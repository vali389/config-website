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70" r:id="rId10"/>
    <p:sldId id="272" r:id="rId11"/>
    <p:sldId id="278" r:id="rId12"/>
    <p:sldId id="275" r:id="rId13"/>
    <p:sldId id="27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24FF04-EE9B-6203-4E54-F1FD045711AB}" v="3" dt="2026-07-21T07:35:39.1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331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ConfigUSA is no longer a traditional staffing vendor — we are an AI-powered talent intelligence partner. Two decades of engineering and ERP experience, delivery across the USA, Canada and India, and a 24x7 recruiting engine. Everything that follows shows how AI shortens time-to-hire without compromising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credibility: New Jersey HQ, offshore delivery centre in Hyderabad, coverage across North America. Mission and vision are the pivot — we sell faster, better-matched talent decisions, not headcount.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80% repeat-business number — staffing clients only return when quality holds. 250+ gives scale, the 40-member team gives dedicated bandwidth, and 24x7 makes rapid turnaround structural rather than aspirational.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heart of the repositioning. These are not eight tools but one pipeline: parse, enrich into a skill graph, screen, rank, predict. Bias-aware screening is a compliance argument for government and regulated clients. Humans stay in the loop; the next slide shows exactly 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signature diagram. Data flows in at the top, through five pillars, out to delivery. The amber pillar — human validation — is the decision gate no job board or generic ATS offers. The feedback loop is the compounding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right, but land on step five. Human validation is where our recruiters and technical panel own the decision. Step seven closes the loop — placement performance feeds back into the matching model. That compounding effect is what a job board cannot offer. AI removes the manual load; every offer still passes a human technical validation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on the last row. Traditional staffing hands off and goes quiet. We stay accountable through a validation gate and a named owner. Speed without a validation gate is just noise; a validation gate without AI is slow.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top row is our heritage and the bulk of demand. The bottom row is where the market is moving and where we have invested. The AI/ML card is highlighted: we staff those roles and we use those skills internally — a credibility point most staffing firms cannot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two that match the audience and skip the rest — the grid shows breadth. For government and pharma, stress that compliance and documented process are built into how we screen, not bolted on afterwards.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are contracting enablers, not decoration. SBE and M/WBE unlock supplier-diversity spend targets; SAM means federal work is procedurally open to us; E-Verify means every placement is eligibility-verified before day one. The QMS makes the AI story safe for regulated buyers.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summary slide — if the client remembers one thing, make it the left panel. Traditional staffing sends volume and lets the client sort it out; we do the sorting with AI and stand behind it with a human validation gate and a named owner. The seven points on the right are the supporting evidence, not the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 next step, not gratitude alone. Suggest a 30-minute working session on their two hardest-to-fill roles, and offer to run those roles through the AI matching engine as a no-obligation pilot shortlist. Leave the deck and the certification page with procurement.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15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14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3.png"/><Relationship Id="rId5" Type="http://schemas.openxmlformats.org/officeDocument/2006/relationships/image" Target="../media/image20.png"/><Relationship Id="rId15" Type="http://schemas.openxmlformats.org/officeDocument/2006/relationships/image" Target="../media/image5.png"/><Relationship Id="rId10" Type="http://schemas.openxmlformats.org/officeDocument/2006/relationships/image" Target="../media/image17.png"/><Relationship Id="rId4" Type="http://schemas.openxmlformats.org/officeDocument/2006/relationships/image" Target="../media/image28.png"/><Relationship Id="rId9" Type="http://schemas.openxmlformats.org/officeDocument/2006/relationships/image" Target="../media/image30.png"/><Relationship Id="rId1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0.png"/><Relationship Id="rId7" Type="http://schemas.openxmlformats.org/officeDocument/2006/relationships/image" Target="../media/image38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15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0.png"/><Relationship Id="rId7" Type="http://schemas.openxmlformats.org/officeDocument/2006/relationships/image" Target="../media/image45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2.png"/><Relationship Id="rId4" Type="http://schemas.openxmlformats.org/officeDocument/2006/relationships/image" Target="../media/image50.png"/><Relationship Id="rId9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jpe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26" Type="http://schemas.openxmlformats.org/officeDocument/2006/relationships/image" Target="../media/image75.png"/><Relationship Id="rId3" Type="http://schemas.openxmlformats.org/officeDocument/2006/relationships/image" Target="../media/image52.png"/><Relationship Id="rId21" Type="http://schemas.openxmlformats.org/officeDocument/2006/relationships/image" Target="../media/image70.jpeg"/><Relationship Id="rId7" Type="http://schemas.openxmlformats.org/officeDocument/2006/relationships/image" Target="../media/image56.png"/><Relationship Id="rId12" Type="http://schemas.openxmlformats.org/officeDocument/2006/relationships/image" Target="../media/image61.jpeg"/><Relationship Id="rId17" Type="http://schemas.openxmlformats.org/officeDocument/2006/relationships/image" Target="../media/image66.png"/><Relationship Id="rId25" Type="http://schemas.openxmlformats.org/officeDocument/2006/relationships/image" Target="../media/image74.png"/><Relationship Id="rId2" Type="http://schemas.openxmlformats.org/officeDocument/2006/relationships/image" Target="../media/image10.png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jpeg"/><Relationship Id="rId24" Type="http://schemas.openxmlformats.org/officeDocument/2006/relationships/image" Target="../media/image73.jpeg"/><Relationship Id="rId5" Type="http://schemas.openxmlformats.org/officeDocument/2006/relationships/image" Target="../media/image54.jpeg"/><Relationship Id="rId15" Type="http://schemas.openxmlformats.org/officeDocument/2006/relationships/image" Target="../media/image64.png"/><Relationship Id="rId23" Type="http://schemas.openxmlformats.org/officeDocument/2006/relationships/image" Target="../media/image72.jpe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4" Type="http://schemas.openxmlformats.org/officeDocument/2006/relationships/image" Target="../media/image53.png"/><Relationship Id="rId9" Type="http://schemas.openxmlformats.org/officeDocument/2006/relationships/image" Target="../media/image58.jpeg"/><Relationship Id="rId14" Type="http://schemas.openxmlformats.org/officeDocument/2006/relationships/image" Target="../media/image63.png"/><Relationship Id="rId22" Type="http://schemas.openxmlformats.org/officeDocument/2006/relationships/image" Target="../media/image71.png"/><Relationship Id="rId27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6.png"/><Relationship Id="rId7" Type="http://schemas.openxmlformats.org/officeDocument/2006/relationships/image" Target="../media/image35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30.png"/><Relationship Id="rId5" Type="http://schemas.openxmlformats.org/officeDocument/2006/relationships/image" Target="../media/image14.png"/><Relationship Id="rId10" Type="http://schemas.openxmlformats.org/officeDocument/2006/relationships/image" Target="../media/image12.png"/><Relationship Id="rId4" Type="http://schemas.openxmlformats.org/officeDocument/2006/relationships/image" Target="../media/image77.png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1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network.png"/>
          <p:cNvPicPr>
            <a:picLocks noChangeAspect="1"/>
          </p:cNvPicPr>
          <p:nvPr/>
        </p:nvPicPr>
        <p:blipFill>
          <a:blip r:embed="rId4">
            <a:alphaModFix amt="78000"/>
          </a:blip>
          <a:stretch>
            <a:fillRect/>
          </a:stretch>
        </p:blipFill>
        <p:spPr>
          <a:xfrm>
            <a:off x="6858000" y="-365760"/>
            <a:ext cx="5669280" cy="5669280"/>
          </a:xfrm>
          <a:prstGeom prst="rect">
            <a:avLst/>
          </a:prstGeom>
        </p:spPr>
      </p:pic>
      <p:pic>
        <p:nvPicPr>
          <p:cNvPr id="3" name="Image 1" descr="assets/orb.png"/>
          <p:cNvPicPr>
            <a:picLocks noChangeAspect="1"/>
          </p:cNvPicPr>
          <p:nvPr/>
        </p:nvPicPr>
        <p:blipFill>
          <a:blip r:embed="rId5">
            <a:alphaModFix amt="92000"/>
          </a:blip>
          <a:stretch>
            <a:fillRect/>
          </a:stretch>
        </p:blipFill>
        <p:spPr>
          <a:xfrm>
            <a:off x="7863840" y="1188720"/>
            <a:ext cx="4023360" cy="4023360"/>
          </a:xfrm>
          <a:prstGeom prst="rect">
            <a:avLst/>
          </a:prstGeom>
        </p:spPr>
      </p:pic>
      <p:pic>
        <p:nvPicPr>
          <p:cNvPr id="4" name="Image 2" descr="assets/logo_l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48640"/>
            <a:ext cx="2514600" cy="108813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85800" y="22860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CAPABILITY PRESENTATION</a:t>
            </a:r>
            <a:endParaRPr lang="en-US" sz="1250" dirty="0"/>
          </a:p>
        </p:txBody>
      </p:sp>
      <p:sp>
        <p:nvSpPr>
          <p:cNvPr id="6" name="Text 1"/>
          <p:cNvSpPr/>
          <p:nvPr/>
        </p:nvSpPr>
        <p:spPr>
          <a:xfrm>
            <a:off x="658368" y="265176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Talent Intelligence
&amp; </a:t>
            </a:r>
            <a:r>
              <a:rPr lang="en-US" sz="4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Staffing Solutions</a:t>
            </a:r>
            <a:endParaRPr lang="en-US" sz="4200" dirty="0"/>
          </a:p>
        </p:txBody>
      </p:sp>
      <p:sp>
        <p:nvSpPr>
          <p:cNvPr id="7" name="Text 2"/>
          <p:cNvSpPr/>
          <p:nvPr/>
        </p:nvSpPr>
        <p:spPr>
          <a:xfrm>
            <a:off x="685800" y="46177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businesses with exceptional talent through AI, innovation and truly global delivery.</a:t>
            </a:r>
            <a:endParaRPr lang="en-US" sz="1500" dirty="0"/>
          </a:p>
        </p:txBody>
      </p:sp>
      <p:sp>
        <p:nvSpPr>
          <p:cNvPr id="8" name="Shape 3"/>
          <p:cNvSpPr/>
          <p:nvPr/>
        </p:nvSpPr>
        <p:spPr>
          <a:xfrm>
            <a:off x="685800" y="5440680"/>
            <a:ext cx="2315261" cy="420624"/>
          </a:xfrm>
          <a:prstGeom prst="roundRect">
            <a:avLst>
              <a:gd name="adj" fmla="val 50000"/>
            </a:avLst>
          </a:prstGeom>
          <a:solidFill>
            <a:srgbClr val="122253">
              <a:alpha val="78000"/>
            </a:srgbClr>
          </a:solidFill>
          <a:ln w="12700">
            <a:solidFill>
              <a:srgbClr val="3E6BD6">
                <a:alpha val="65000"/>
              </a:srgbClr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685800" y="5440680"/>
            <a:ext cx="231526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7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Decades of Expertise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3202229" y="5440680"/>
            <a:ext cx="1993392" cy="420624"/>
          </a:xfrm>
          <a:prstGeom prst="roundRect">
            <a:avLst>
              <a:gd name="adj" fmla="val 50000"/>
            </a:avLst>
          </a:prstGeom>
          <a:solidFill>
            <a:srgbClr val="122253">
              <a:alpha val="78000"/>
            </a:srgbClr>
          </a:solidFill>
          <a:ln w="12700">
            <a:solidFill>
              <a:srgbClr val="3E6BD6">
                <a:alpha val="65000"/>
              </a:srgbClr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202229" y="544068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7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· Canada · India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396789" y="5440680"/>
            <a:ext cx="1993392" cy="420624"/>
          </a:xfrm>
          <a:prstGeom prst="roundRect">
            <a:avLst>
              <a:gd name="adj" fmla="val 50000"/>
            </a:avLst>
          </a:prstGeom>
          <a:solidFill>
            <a:srgbClr val="122253">
              <a:alpha val="78000"/>
            </a:srgbClr>
          </a:solidFill>
          <a:ln w="12700">
            <a:solidFill>
              <a:srgbClr val="3E6BD6">
                <a:alpha val="6500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396789" y="5440680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7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24×7 Global Delivery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100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Capability Presentation   ·   configusa.com</a:t>
            </a:r>
            <a:endParaRPr lang="en-US" sz="1000" dirty="0"/>
          </a:p>
        </p:txBody>
      </p:sp>
      <p:sp>
        <p:nvSpPr>
          <p:cNvPr id="900" name="Logo Chip"/>
          <p:cNvSpPr/>
          <p:nvPr/>
        </p:nvSpPr>
        <p:spPr>
          <a:xfrm>
            <a:off x="10544320" y="250000"/>
            <a:ext cx="1160000" cy="49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01" name="Config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4320" y="330000"/>
            <a:ext cx="1000000" cy="332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Intelligent IT Partner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517904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ConfigUSA is a leading IT outsourcing and talent solutions company specialising in Digital, ERP and Engineering services. Headquartered in New Jersey with a state-of-the-art offshore delivery center. Config Solutions in Hyderabad, India.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578608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2551" y="2672791"/>
            <a:ext cx="652882" cy="652882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2807208"/>
            <a:ext cx="384048" cy="38404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8" name="Image 0" descr="assets/icons/bulls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140" y="2899380"/>
            <a:ext cx="199705" cy="1997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706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81328" y="298094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exceptional talent faster by combining deep domain expertise with intelligent, AI-assisted recruiting.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8368" y="3493008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52551" y="3587191"/>
            <a:ext cx="652882" cy="652882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86968" y="3721608"/>
            <a:ext cx="384048" cy="38404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14" name="Image 1" descr="assets/icons/ey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140" y="3813780"/>
            <a:ext cx="199705" cy="1997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81328" y="36210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481328" y="389534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the talent intelligence partner of choice for enterprises building the AI-era workforce.</a:t>
            </a:r>
            <a:endParaRPr lang="en-US" sz="1050" dirty="0"/>
          </a:p>
        </p:txBody>
      </p:sp>
      <p:pic>
        <p:nvPicPr>
          <p:cNvPr id="17" name="Image 2" descr="assets/worldmap.png"/>
          <p:cNvPicPr>
            <a:picLocks noChangeAspect="1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6172200" y="1417320"/>
            <a:ext cx="5577840" cy="213055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336688" y="1910182"/>
            <a:ext cx="292608" cy="292608"/>
          </a:xfrm>
          <a:prstGeom prst="ellipse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19" name="Shape 14"/>
          <p:cNvSpPr/>
          <p:nvPr/>
        </p:nvSpPr>
        <p:spPr>
          <a:xfrm>
            <a:off x="7418984" y="1992478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660032" y="216621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Canada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392467" y="2208459"/>
            <a:ext cx="292608" cy="292608"/>
          </a:xfrm>
          <a:prstGeom prst="ellipse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7474763" y="2290755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715811" y="2464491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Plainsboro, NJ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9846716" y="2549347"/>
            <a:ext cx="292608" cy="292608"/>
          </a:xfrm>
          <a:prstGeom prst="ellipse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9929012" y="2631643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170060" y="2805379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Hyderabad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172200" y="36576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countries · one integrated, follow-the-sun delivery model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58368" y="4498848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658368" y="470001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3800" dirty="0"/>
          </a:p>
        </p:txBody>
      </p:sp>
      <p:sp>
        <p:nvSpPr>
          <p:cNvPr id="30" name="Text 25"/>
          <p:cNvSpPr/>
          <p:nvPr/>
        </p:nvSpPr>
        <p:spPr>
          <a:xfrm>
            <a:off x="795528" y="54498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 EXPERIENCE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3557016" y="4498848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3557016" y="470001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33" name="Text 28"/>
          <p:cNvSpPr/>
          <p:nvPr/>
        </p:nvSpPr>
        <p:spPr>
          <a:xfrm>
            <a:off x="3694176" y="54498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 OF OPERATION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6455664" y="4498848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6455664" y="470001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800" dirty="0"/>
          </a:p>
        </p:txBody>
      </p:sp>
      <p:sp>
        <p:nvSpPr>
          <p:cNvPr id="36" name="Text 31"/>
          <p:cNvSpPr/>
          <p:nvPr/>
        </p:nvSpPr>
        <p:spPr>
          <a:xfrm>
            <a:off x="6592824" y="54498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VERTICALS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9354312" y="4498848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8" name="Text 33"/>
          <p:cNvSpPr/>
          <p:nvPr/>
        </p:nvSpPr>
        <p:spPr>
          <a:xfrm>
            <a:off x="9354312" y="470001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3800" dirty="0"/>
          </a:p>
        </p:txBody>
      </p:sp>
      <p:sp>
        <p:nvSpPr>
          <p:cNvPr id="39" name="Text 34"/>
          <p:cNvSpPr/>
          <p:nvPr/>
        </p:nvSpPr>
        <p:spPr>
          <a:xfrm>
            <a:off x="9491472" y="54498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DELIVERY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CONFIGUSA</a:t>
            </a:r>
            <a:r>
              <a:rPr lang="en-US" sz="850" kern="0" spc="200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YOUR INTELLIGENT IT PARTNER</a:t>
            </a:r>
            <a:endParaRPr lang="en-US" sz="850" dirty="0"/>
          </a:p>
        </p:txBody>
      </p:sp>
      <p:sp>
        <p:nvSpPr>
          <p:cNvPr id="41" name="Text 36"/>
          <p:cNvSpPr/>
          <p:nvPr/>
        </p:nvSpPr>
        <p:spPr>
          <a:xfrm>
            <a:off x="111556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900" name="Logo Chip"/>
          <p:cNvSpPr/>
          <p:nvPr/>
        </p:nvSpPr>
        <p:spPr>
          <a:xfrm>
            <a:off x="10544320" y="250000"/>
            <a:ext cx="1160000" cy="49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01" name="Config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4320" y="330000"/>
            <a:ext cx="1000000" cy="332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CONFIGUSA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Scale, Loyalty &amp; Always-On Delivery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3E6BD6">
                <a:alpha val="5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0116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58368" y="28620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3172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USA, Canada &amp; India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57016" y="178308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3E6BD6">
                <a:alpha val="5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57016" y="20116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557016" y="28620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BUSINESS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48456" y="3172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who come back to us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55664" y="178308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3E6BD6">
                <a:alpha val="5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55664" y="20116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455664" y="28620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TEAM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47104" y="3172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Recruiters, account managers, HR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354312" y="178308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3E6BD6">
                <a:alpha val="5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54312" y="20116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24×7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9354312" y="28620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COVERAGE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445752" y="31729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Follow-the-sun recruiting engine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388620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2571" y="4140403"/>
            <a:ext cx="808330" cy="80833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78992" y="4306824"/>
            <a:ext cx="475488" cy="47548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23" name="Image 0" descr="assets/icons/heads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109" y="4420941"/>
            <a:ext cx="247254" cy="24725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50976" y="493776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SPOC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50976" y="530352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client gets a named SPOC and a layered support team — no ticket queues.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443984" y="388620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98187" y="4140403"/>
            <a:ext cx="808330" cy="80833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4864608" y="4306824"/>
            <a:ext cx="475488" cy="47548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29" name="Image 1" descr="assets/icons/qm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8725" y="4420941"/>
            <a:ext cx="247254" cy="24725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736592" y="493776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QMS-Aligned Delivery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4736592" y="530352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screening, technical validation and documented delivery standards.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8229600" y="388620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8483803" y="4140403"/>
            <a:ext cx="808330" cy="80833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4" name="Shape 30"/>
          <p:cNvSpPr/>
          <p:nvPr/>
        </p:nvSpPr>
        <p:spPr>
          <a:xfrm>
            <a:off x="8650224" y="4306824"/>
            <a:ext cx="475488" cy="47548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35" name="Image 2" descr="assets/icons/bo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4341" y="4420941"/>
            <a:ext cx="247254" cy="24725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522208" y="493776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AI-Assisted Turnaround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8522208" y="530352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sourcing and screening compress shortlists from weeks to days.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CONFIGUSA</a:t>
            </a:r>
            <a:r>
              <a:rPr lang="en-US" sz="850" kern="0" spc="200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YOUR INTELLIGENT IT PARTNER</a:t>
            </a:r>
            <a:endParaRPr lang="en-US" sz="850" dirty="0"/>
          </a:p>
        </p:txBody>
      </p:sp>
      <p:sp>
        <p:nvSpPr>
          <p:cNvPr id="39" name="Text 34"/>
          <p:cNvSpPr/>
          <p:nvPr/>
        </p:nvSpPr>
        <p:spPr>
          <a:xfrm>
            <a:off x="111556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900" name="Logo Chip"/>
          <p:cNvSpPr/>
          <p:nvPr/>
        </p:nvSpPr>
        <p:spPr>
          <a:xfrm>
            <a:off x="10544320" y="250000"/>
            <a:ext cx="1160000" cy="49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01" name="Config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4320" y="330000"/>
            <a:ext cx="1000000" cy="332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ADVANTAGE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Hiring with </a:t>
            </a:r>
            <a:r>
              <a:rPr lang="en-US" sz="3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capabilities work as one engine — sourcing wider, screening faster, and matching on evidence rather than keywords.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36676" y="2189988"/>
            <a:ext cx="777240" cy="77724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96696" y="2350008"/>
            <a:ext cx="457200" cy="45720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8" name="Image 0" descr="assets/icons/magn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245973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9443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Candidate Matching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4400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fit against role, stack &amp; context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3557016" y="201168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35324" y="2189988"/>
            <a:ext cx="777240" cy="77724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895344" y="2350008"/>
            <a:ext cx="457200" cy="45720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14" name="Image 1" descr="assets/icons/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5072" y="245973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13048" y="29443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Intelligence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813048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skill graphs, adjacencies &amp; gaps</a:t>
            </a:r>
            <a:endParaRPr lang="en-US" sz="1030" dirty="0"/>
          </a:p>
        </p:txBody>
      </p:sp>
      <p:sp>
        <p:nvSpPr>
          <p:cNvPr id="17" name="Shape 13"/>
          <p:cNvSpPr/>
          <p:nvPr/>
        </p:nvSpPr>
        <p:spPr>
          <a:xfrm>
            <a:off x="6455664" y="201168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633972" y="2189988"/>
            <a:ext cx="777240" cy="77724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6793992" y="2350008"/>
            <a:ext cx="457200" cy="45720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20" name="Image 2" descr="assets/icons/fi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2459736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11696" y="29443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Parsing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6711696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profiles from any format, instantly</a:t>
            </a:r>
            <a:endParaRPr lang="en-US" sz="1030" dirty="0"/>
          </a:p>
        </p:txBody>
      </p:sp>
      <p:sp>
        <p:nvSpPr>
          <p:cNvPr id="23" name="Shape 18"/>
          <p:cNvSpPr/>
          <p:nvPr/>
        </p:nvSpPr>
        <p:spPr>
          <a:xfrm>
            <a:off x="9354312" y="201168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532620" y="2189988"/>
            <a:ext cx="777240" cy="77724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9692640" y="2350008"/>
            <a:ext cx="457200" cy="45720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26" name="Image 3" descr="assets/icons/chartlin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2368" y="2459736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10344" y="29443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Hiring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9610344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that forecast success &amp; retention</a:t>
            </a:r>
            <a:endParaRPr lang="en-US" sz="1030" dirty="0"/>
          </a:p>
        </p:txBody>
      </p:sp>
      <p:sp>
        <p:nvSpPr>
          <p:cNvPr id="29" name="Shape 23"/>
          <p:cNvSpPr/>
          <p:nvPr/>
        </p:nvSpPr>
        <p:spPr>
          <a:xfrm>
            <a:off x="658368" y="4096512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36676" y="4274820"/>
            <a:ext cx="777240" cy="77724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996696" y="4434840"/>
            <a:ext cx="457200" cy="45720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32" name="Image 4" descr="assets/icons/chartba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424" y="4544568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14400" y="5029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Analytics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914400" y="5468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Pipeline, funnel &amp; market-rate visibility</a:t>
            </a:r>
            <a:endParaRPr lang="en-US" sz="1030" dirty="0"/>
          </a:p>
        </p:txBody>
      </p:sp>
      <p:sp>
        <p:nvSpPr>
          <p:cNvPr id="35" name="Shape 28"/>
          <p:cNvSpPr/>
          <p:nvPr/>
        </p:nvSpPr>
        <p:spPr>
          <a:xfrm>
            <a:off x="3557016" y="4096512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735324" y="4274820"/>
            <a:ext cx="777240" cy="77724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37" name="Shape 30"/>
          <p:cNvSpPr/>
          <p:nvPr/>
        </p:nvSpPr>
        <p:spPr>
          <a:xfrm>
            <a:off x="3895344" y="4434840"/>
            <a:ext cx="457200" cy="45720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38" name="Image 5" descr="assets/icons/networ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5072" y="4544568"/>
            <a:ext cx="237744" cy="23774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813048" y="5029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Insights</a:t>
            </a:r>
            <a:endParaRPr lang="en-US" sz="1350" dirty="0"/>
          </a:p>
        </p:txBody>
      </p:sp>
      <p:sp>
        <p:nvSpPr>
          <p:cNvPr id="40" name="Text 32"/>
          <p:cNvSpPr/>
          <p:nvPr/>
        </p:nvSpPr>
        <p:spPr>
          <a:xfrm>
            <a:off x="3813048" y="5468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Supply, demand &amp; location intelligence</a:t>
            </a:r>
            <a:endParaRPr lang="en-US" sz="1030" dirty="0"/>
          </a:p>
        </p:txBody>
      </p:sp>
      <p:sp>
        <p:nvSpPr>
          <p:cNvPr id="41" name="Shape 33"/>
          <p:cNvSpPr/>
          <p:nvPr/>
        </p:nvSpPr>
        <p:spPr>
          <a:xfrm>
            <a:off x="6455664" y="4096512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6633972" y="4274820"/>
            <a:ext cx="777240" cy="77724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3" name="Shape 35"/>
          <p:cNvSpPr/>
          <p:nvPr/>
        </p:nvSpPr>
        <p:spPr>
          <a:xfrm>
            <a:off x="6793992" y="4434840"/>
            <a:ext cx="457200" cy="45720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44" name="Image 6" descr="assets/icons/filter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3720" y="4544568"/>
            <a:ext cx="237744" cy="237744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711696" y="5029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Screening</a:t>
            </a:r>
            <a:endParaRPr lang="en-US" sz="1350" dirty="0"/>
          </a:p>
        </p:txBody>
      </p:sp>
      <p:sp>
        <p:nvSpPr>
          <p:cNvPr id="46" name="Text 37"/>
          <p:cNvSpPr/>
          <p:nvPr/>
        </p:nvSpPr>
        <p:spPr>
          <a:xfrm>
            <a:off x="6711696" y="5468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Consistent, bias-aware first-pass filtering</a:t>
            </a:r>
            <a:endParaRPr lang="en-US" sz="1030" dirty="0"/>
          </a:p>
        </p:txBody>
      </p:sp>
      <p:sp>
        <p:nvSpPr>
          <p:cNvPr id="47" name="Shape 38"/>
          <p:cNvSpPr/>
          <p:nvPr/>
        </p:nvSpPr>
        <p:spPr>
          <a:xfrm>
            <a:off x="9354312" y="4096512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9532620" y="4274820"/>
            <a:ext cx="777240" cy="77724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9" name="Shape 40"/>
          <p:cNvSpPr/>
          <p:nvPr/>
        </p:nvSpPr>
        <p:spPr>
          <a:xfrm>
            <a:off x="9692640" y="4434840"/>
            <a:ext cx="457200" cy="45720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50" name="Image 7" descr="assets/icons/bolt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02368" y="4544568"/>
            <a:ext cx="237744" cy="237744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9610344" y="5029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Time-to-Hire</a:t>
            </a:r>
            <a:endParaRPr lang="en-US" sz="1350" dirty="0"/>
          </a:p>
        </p:txBody>
      </p:sp>
      <p:sp>
        <p:nvSpPr>
          <p:cNvPr id="52" name="Text 42"/>
          <p:cNvSpPr/>
          <p:nvPr/>
        </p:nvSpPr>
        <p:spPr>
          <a:xfrm>
            <a:off x="9610344" y="546811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of manual effort removed per requisition</a:t>
            </a:r>
            <a:endParaRPr lang="en-US" sz="1030" dirty="0"/>
          </a:p>
        </p:txBody>
      </p:sp>
      <p:sp>
        <p:nvSpPr>
          <p:cNvPr id="53" name="Text 43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CONFIGUSA</a:t>
            </a:r>
            <a:r>
              <a:rPr lang="en-US" sz="850" kern="0" spc="200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YOUR INTELLIGENT IT PARTNER</a:t>
            </a:r>
            <a:endParaRPr lang="en-US" sz="850" dirty="0"/>
          </a:p>
        </p:txBody>
      </p:sp>
      <p:sp>
        <p:nvSpPr>
          <p:cNvPr id="54" name="Text 44"/>
          <p:cNvSpPr/>
          <p:nvPr/>
        </p:nvSpPr>
        <p:spPr>
          <a:xfrm>
            <a:off x="111556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900" name="Logo Chip"/>
          <p:cNvSpPr/>
          <p:nvPr/>
        </p:nvSpPr>
        <p:spPr>
          <a:xfrm>
            <a:off x="10544320" y="250000"/>
            <a:ext cx="1160000" cy="49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01" name="Config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4320" y="330000"/>
            <a:ext cx="1000000" cy="332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Talent Intelligence Platform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10881360" cy="4343400"/>
          </a:xfrm>
          <a:prstGeom prst="roundRect">
            <a:avLst>
              <a:gd name="adj" fmla="val 1263"/>
            </a:avLst>
          </a:prstGeom>
          <a:solidFill>
            <a:srgbClr val="0E1B42">
              <a:alpha val="60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828800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3B82F6">
              <a:alpha val="22000"/>
            </a:srgbClr>
          </a:solidFill>
          <a:ln w="12700">
            <a:solidFill>
              <a:srgbClr val="3E6BD6">
                <a:alpha val="65000"/>
              </a:srgbClr>
            </a:solidFill>
            <a:prstDash val="solid"/>
          </a:ln>
        </p:spPr>
      </p:sp>
      <p:pic>
        <p:nvPicPr>
          <p:cNvPr id="6" name="Image 0" descr="assets/icons/plug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1965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1947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&amp; INTEGRATIONS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79008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boards · Internal talent pool · ATS/HRIS · Referrals · Vendor networks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14400" y="2651760"/>
            <a:ext cx="1975104" cy="2331720"/>
          </a:xfrm>
          <a:prstGeom prst="roundRect">
            <a:avLst>
              <a:gd name="adj" fmla="val 3704"/>
            </a:avLst>
          </a:prstGeom>
          <a:solidFill>
            <a:srgbClr val="122253">
              <a:alpha val="80000"/>
            </a:srgbClr>
          </a:solidFill>
          <a:ln w="12700">
            <a:solidFill>
              <a:srgbClr val="3E6BD6">
                <a:alpha val="60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466698" y="2765146"/>
            <a:ext cx="870509" cy="870509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645920" y="2944368"/>
            <a:ext cx="512064" cy="512064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12" name="Image 1" descr="assets/icons/magn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8815" y="3067263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358444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060704" y="413308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reach + talent pool</a:t>
            </a:r>
            <a:endParaRPr lang="en-US" sz="1000" dirty="0"/>
          </a:p>
        </p:txBody>
      </p:sp>
      <p:pic>
        <p:nvPicPr>
          <p:cNvPr id="15" name="Image 2" descr="assets/icons/angleright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1780" y="3474720"/>
            <a:ext cx="256032" cy="25603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2990088" y="2651760"/>
            <a:ext cx="1975104" cy="2331720"/>
          </a:xfrm>
          <a:prstGeom prst="roundRect">
            <a:avLst>
              <a:gd name="adj" fmla="val 3704"/>
            </a:avLst>
          </a:prstGeom>
          <a:solidFill>
            <a:srgbClr val="122253">
              <a:alpha val="80000"/>
            </a:srgbClr>
          </a:solidFill>
          <a:ln w="12700">
            <a:solidFill>
              <a:srgbClr val="3E6BD6">
                <a:alpha val="60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542386" y="2765146"/>
            <a:ext cx="870509" cy="870509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3721608" y="2944368"/>
            <a:ext cx="512064" cy="512064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19" name="Image 3" descr="assets/icons/brai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4503" y="3067263"/>
            <a:ext cx="266273" cy="26627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081528" y="358444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3136392" y="413308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 · skill graph · enrichment</a:t>
            </a:r>
            <a:endParaRPr lang="en-US" sz="1000" dirty="0"/>
          </a:p>
        </p:txBody>
      </p:sp>
      <p:pic>
        <p:nvPicPr>
          <p:cNvPr id="22" name="Image 4" descr="assets/icons/angleright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7468" y="3474720"/>
            <a:ext cx="256032" cy="25603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5065776" y="2651760"/>
            <a:ext cx="1975104" cy="2331720"/>
          </a:xfrm>
          <a:prstGeom prst="roundRect">
            <a:avLst>
              <a:gd name="adj" fmla="val 3704"/>
            </a:avLst>
          </a:prstGeom>
          <a:solidFill>
            <a:srgbClr val="122253">
              <a:alpha val="80000"/>
            </a:srgbClr>
          </a:solidFill>
          <a:ln w="12700">
            <a:solidFill>
              <a:srgbClr val="3E6BD6">
                <a:alpha val="60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5618074" y="2765146"/>
            <a:ext cx="870509" cy="870509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5797296" y="2944368"/>
            <a:ext cx="512064" cy="512064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26" name="Image 5" descr="assets/icons/crosshair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0191" y="3067263"/>
            <a:ext cx="266273" cy="26627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157216" y="358444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&amp; Ranking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5212080" y="413308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scoring · predictive signals</a:t>
            </a:r>
            <a:endParaRPr lang="en-US" sz="1000" dirty="0"/>
          </a:p>
        </p:txBody>
      </p:sp>
      <p:pic>
        <p:nvPicPr>
          <p:cNvPr id="29" name="Image 6" descr="assets/icons/angleright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3156" y="3474720"/>
            <a:ext cx="256032" cy="256032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7141464" y="2651760"/>
            <a:ext cx="1975104" cy="2331720"/>
          </a:xfrm>
          <a:prstGeom prst="roundRect">
            <a:avLst>
              <a:gd name="adj" fmla="val 3704"/>
            </a:avLst>
          </a:prstGeom>
          <a:solidFill>
            <a:srgbClr val="3A2A0E">
              <a:alpha val="45000"/>
            </a:srgbClr>
          </a:solidFill>
          <a:ln w="12700">
            <a:solidFill>
              <a:srgbClr val="FBBF24">
                <a:alpha val="6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7693762" y="2765146"/>
            <a:ext cx="870509" cy="870509"/>
          </a:xfrm>
          <a:prstGeom prst="ellipse">
            <a:avLst/>
          </a:prstGeom>
          <a:solidFill>
            <a:srgbClr val="FBBF24">
              <a:alpha val="10000"/>
            </a:srgbClr>
          </a:solidFill>
          <a:ln/>
        </p:spPr>
      </p:sp>
      <p:sp>
        <p:nvSpPr>
          <p:cNvPr id="32" name="Shape 23"/>
          <p:cNvSpPr/>
          <p:nvPr/>
        </p:nvSpPr>
        <p:spPr>
          <a:xfrm>
            <a:off x="7872984" y="2944368"/>
            <a:ext cx="512064" cy="512064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FBBF24">
                <a:alpha val="80000"/>
              </a:srgbClr>
            </a:solidFill>
            <a:prstDash val="solid"/>
          </a:ln>
        </p:spPr>
      </p:sp>
      <p:pic>
        <p:nvPicPr>
          <p:cNvPr id="33" name="Image 7" descr="assets/icons/user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5879" y="3067263"/>
            <a:ext cx="266273" cy="266273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232904" y="358444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Validation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7287768" y="413308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FCE8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panel decision gate</a:t>
            </a:r>
            <a:endParaRPr lang="en-US" sz="1000" dirty="0"/>
          </a:p>
        </p:txBody>
      </p:sp>
      <p:pic>
        <p:nvPicPr>
          <p:cNvPr id="36" name="Image 8" descr="assets/icons/angleright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8844" y="3474720"/>
            <a:ext cx="256032" cy="256032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9217152" y="2651760"/>
            <a:ext cx="1975104" cy="2331720"/>
          </a:xfrm>
          <a:prstGeom prst="roundRect">
            <a:avLst>
              <a:gd name="adj" fmla="val 3704"/>
            </a:avLst>
          </a:prstGeom>
          <a:solidFill>
            <a:srgbClr val="122253">
              <a:alpha val="80000"/>
            </a:srgbClr>
          </a:solidFill>
          <a:ln w="12700">
            <a:solidFill>
              <a:srgbClr val="3E6BD6">
                <a:alpha val="60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9769450" y="2765146"/>
            <a:ext cx="870509" cy="870509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9" name="Shape 28"/>
          <p:cNvSpPr/>
          <p:nvPr/>
        </p:nvSpPr>
        <p:spPr>
          <a:xfrm>
            <a:off x="9948672" y="2944368"/>
            <a:ext cx="512064" cy="512064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40" name="Image 9" descr="assets/icons/rocke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71567" y="3067263"/>
            <a:ext cx="266273" cy="266273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308592" y="358444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&amp; Analytics</a:t>
            </a:r>
            <a:endParaRPr lang="en-US" sz="1400" dirty="0"/>
          </a:p>
        </p:txBody>
      </p:sp>
      <p:sp>
        <p:nvSpPr>
          <p:cNvPr id="42" name="Text 30"/>
          <p:cNvSpPr/>
          <p:nvPr/>
        </p:nvSpPr>
        <p:spPr>
          <a:xfrm>
            <a:off x="9363456" y="4133088"/>
            <a:ext cx="1682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· tracking · insights</a:t>
            </a:r>
            <a:endParaRPr lang="en-US" sz="1000" dirty="0"/>
          </a:p>
        </p:txBody>
      </p:sp>
      <p:sp>
        <p:nvSpPr>
          <p:cNvPr id="43" name="Shape 31"/>
          <p:cNvSpPr/>
          <p:nvPr/>
        </p:nvSpPr>
        <p:spPr>
          <a:xfrm>
            <a:off x="886968" y="5166360"/>
            <a:ext cx="10424160" cy="566928"/>
          </a:xfrm>
          <a:prstGeom prst="roundRect">
            <a:avLst>
              <a:gd name="adj" fmla="val 12903"/>
            </a:avLst>
          </a:prstGeom>
          <a:solidFill>
            <a:srgbClr val="6366F1">
              <a:alpha val="20000"/>
            </a:srgbClr>
          </a:solidFill>
          <a:ln w="12700">
            <a:solidFill>
              <a:srgbClr val="3E6BD6">
                <a:alpha val="60000"/>
              </a:srgbClr>
            </a:solidFill>
            <a:prstDash val="solid"/>
          </a:ln>
        </p:spPr>
      </p:sp>
      <p:pic>
        <p:nvPicPr>
          <p:cNvPr id="44" name="Image 10" descr="assets/icons/shield_cya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5568" y="5303520"/>
            <a:ext cx="274320" cy="27432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1527048" y="5285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· QMS · COMPLIANCE GOVERNANCE</a:t>
            </a:r>
            <a:endParaRPr lang="en-US" sz="1200" dirty="0"/>
          </a:p>
        </p:txBody>
      </p:sp>
      <p:sp>
        <p:nvSpPr>
          <p:cNvPr id="46" name="Text 33"/>
          <p:cNvSpPr/>
          <p:nvPr/>
        </p:nvSpPr>
        <p:spPr>
          <a:xfrm>
            <a:off x="6053328" y="53035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E-Verify · SAM · bias-aware screening · documented standards</a:t>
            </a:r>
            <a:endParaRPr lang="en-US" sz="1050" dirty="0"/>
          </a:p>
        </p:txBody>
      </p:sp>
      <p:sp>
        <p:nvSpPr>
          <p:cNvPr id="47" name="Text 34"/>
          <p:cNvSpPr/>
          <p:nvPr/>
        </p:nvSpPr>
        <p:spPr>
          <a:xfrm>
            <a:off x="658368" y="60533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 Placement performance feeds back into the matching model — the engine sharpens on every client's roles.</a:t>
            </a:r>
            <a:endParaRPr lang="en-US" sz="1100" dirty="0"/>
          </a:p>
        </p:txBody>
      </p:sp>
      <p:sp>
        <p:nvSpPr>
          <p:cNvPr id="48" name="Text 35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CONFIGUSA</a:t>
            </a:r>
            <a:r>
              <a:rPr lang="en-US" sz="850" kern="0" spc="200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YOUR INTELLIGENT IT PARTNER</a:t>
            </a:r>
            <a:endParaRPr lang="en-US" sz="850" dirty="0"/>
          </a:p>
        </p:txBody>
      </p:sp>
      <p:sp>
        <p:nvSpPr>
          <p:cNvPr id="49" name="Text 36"/>
          <p:cNvSpPr/>
          <p:nvPr/>
        </p:nvSpPr>
        <p:spPr>
          <a:xfrm>
            <a:off x="111556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900" name="Logo Chip"/>
          <p:cNvSpPr/>
          <p:nvPr/>
        </p:nvSpPr>
        <p:spPr>
          <a:xfrm>
            <a:off x="10544320" y="250000"/>
            <a:ext cx="1160000" cy="49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01" name="Config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4320" y="330000"/>
            <a:ext cx="1000000" cy="332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 Recruitment Lifecycle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435608" y="2386584"/>
            <a:ext cx="9326880" cy="0"/>
          </a:xfrm>
          <a:prstGeom prst="line">
            <a:avLst/>
          </a:prstGeom>
          <a:noFill/>
          <a:ln w="25400">
            <a:solidFill>
              <a:srgbClr val="2A3E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0547" y="1671523"/>
            <a:ext cx="1430122" cy="1430122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14984" y="1965960"/>
            <a:ext cx="841248" cy="84124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7" name="Image 0" descr="assets/icons/sear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884" y="2167860"/>
            <a:ext cx="437449" cy="43744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55064" y="1874520"/>
            <a:ext cx="329184" cy="329184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13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55064" y="188366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58368" y="2990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04088" y="32644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+ internal pool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275027" y="1671523"/>
            <a:ext cx="1430122" cy="143012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569464" y="1965960"/>
            <a:ext cx="841248" cy="84124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14" name="Image 1" descr="assets/icons/filt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1364" y="2167860"/>
            <a:ext cx="437449" cy="437449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209544" y="1874520"/>
            <a:ext cx="329184" cy="329184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133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09544" y="188366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2212848" y="2990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Screening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258568" y="32644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first-pass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829507" y="1671523"/>
            <a:ext cx="1430122" cy="1430122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4123944" y="1965960"/>
            <a:ext cx="841248" cy="84124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21" name="Image 2" descr="assets/icons/bra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5844" y="2167860"/>
            <a:ext cx="437449" cy="437449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764024" y="1874520"/>
            <a:ext cx="329184" cy="329184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133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764024" y="188366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3767328" y="2990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Matching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3813048" y="32644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fit scoring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383987" y="1671523"/>
            <a:ext cx="1430122" cy="143012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27" name="Shape 22"/>
          <p:cNvSpPr/>
          <p:nvPr/>
        </p:nvSpPr>
        <p:spPr>
          <a:xfrm>
            <a:off x="5678424" y="1965960"/>
            <a:ext cx="841248" cy="84124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28" name="Image 3" descr="assets/icons/so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0324" y="2167860"/>
            <a:ext cx="437449" cy="437449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6318504" y="1874520"/>
            <a:ext cx="329184" cy="329184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133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318504" y="188366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5321808" y="2990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Ranking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5367528" y="32644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shortlist with rationale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6938467" y="1671523"/>
            <a:ext cx="1430122" cy="1430122"/>
          </a:xfrm>
          <a:prstGeom prst="ellipse">
            <a:avLst/>
          </a:prstGeom>
          <a:solidFill>
            <a:srgbClr val="FBBF24">
              <a:alpha val="10000"/>
            </a:srgbClr>
          </a:solidFill>
          <a:ln/>
        </p:spPr>
      </p:sp>
      <p:sp>
        <p:nvSpPr>
          <p:cNvPr id="34" name="Shape 28"/>
          <p:cNvSpPr/>
          <p:nvPr/>
        </p:nvSpPr>
        <p:spPr>
          <a:xfrm>
            <a:off x="7232904" y="1965960"/>
            <a:ext cx="841248" cy="84124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FBBF24">
                <a:alpha val="80000"/>
              </a:srgbClr>
            </a:solidFill>
            <a:prstDash val="solid"/>
          </a:ln>
        </p:spPr>
      </p:sp>
      <p:pic>
        <p:nvPicPr>
          <p:cNvPr id="35" name="Image 4" descr="assets/icons/userche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4804" y="2167860"/>
            <a:ext cx="437449" cy="437449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7872984" y="1874520"/>
            <a:ext cx="329184" cy="329184"/>
          </a:xfrm>
          <a:prstGeom prst="ellipse">
            <a:avLst/>
          </a:prstGeom>
          <a:solidFill>
            <a:srgbClr val="FBBF24"/>
          </a:solidFill>
          <a:ln w="19050">
            <a:solidFill>
              <a:srgbClr val="0A133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872984" y="188366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6876288" y="2990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Validation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6922008" y="32644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+ cultural interview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8492947" y="1671523"/>
            <a:ext cx="1430122" cy="143012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1" name="Shape 34"/>
          <p:cNvSpPr/>
          <p:nvPr/>
        </p:nvSpPr>
        <p:spPr>
          <a:xfrm>
            <a:off x="8787384" y="1965960"/>
            <a:ext cx="841248" cy="84124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42" name="Image 5" descr="assets/icons/handshak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89284" y="2167860"/>
            <a:ext cx="437449" cy="437449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9427464" y="1874520"/>
            <a:ext cx="329184" cy="329184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133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9427464" y="188366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50" dirty="0"/>
          </a:p>
        </p:txBody>
      </p:sp>
      <p:sp>
        <p:nvSpPr>
          <p:cNvPr id="45" name="Text 37"/>
          <p:cNvSpPr/>
          <p:nvPr/>
        </p:nvSpPr>
        <p:spPr>
          <a:xfrm>
            <a:off x="8430768" y="2990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1150" dirty="0"/>
          </a:p>
        </p:txBody>
      </p:sp>
      <p:sp>
        <p:nvSpPr>
          <p:cNvPr id="46" name="Text 38"/>
          <p:cNvSpPr/>
          <p:nvPr/>
        </p:nvSpPr>
        <p:spPr>
          <a:xfrm>
            <a:off x="8476488" y="32644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&amp; compliance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10047427" y="1671523"/>
            <a:ext cx="1430122" cy="1430122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8" name="Shape 40"/>
          <p:cNvSpPr/>
          <p:nvPr/>
        </p:nvSpPr>
        <p:spPr>
          <a:xfrm>
            <a:off x="10341864" y="1965960"/>
            <a:ext cx="841248" cy="84124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49" name="Image 6" descr="assets/icons/chartlin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3764" y="2167860"/>
            <a:ext cx="437449" cy="437449"/>
          </a:xfrm>
          <a:prstGeom prst="rect">
            <a:avLst/>
          </a:prstGeom>
        </p:spPr>
      </p:pic>
      <p:sp>
        <p:nvSpPr>
          <p:cNvPr id="50" name="Shape 41"/>
          <p:cNvSpPr/>
          <p:nvPr/>
        </p:nvSpPr>
        <p:spPr>
          <a:xfrm>
            <a:off x="10981944" y="1874520"/>
            <a:ext cx="329184" cy="329184"/>
          </a:xfrm>
          <a:prstGeom prst="ellipse">
            <a:avLst/>
          </a:prstGeom>
          <a:solidFill>
            <a:srgbClr val="3B82F6"/>
          </a:solidFill>
          <a:ln w="19050">
            <a:solidFill>
              <a:srgbClr val="0A1330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10981944" y="188366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50" dirty="0"/>
          </a:p>
        </p:txBody>
      </p:sp>
      <p:sp>
        <p:nvSpPr>
          <p:cNvPr id="52" name="Text 43"/>
          <p:cNvSpPr/>
          <p:nvPr/>
        </p:nvSpPr>
        <p:spPr>
          <a:xfrm>
            <a:off x="9985248" y="2990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150" dirty="0"/>
          </a:p>
        </p:txBody>
      </p:sp>
      <p:sp>
        <p:nvSpPr>
          <p:cNvPr id="53" name="Text 44"/>
          <p:cNvSpPr/>
          <p:nvPr/>
        </p:nvSpPr>
        <p:spPr>
          <a:xfrm>
            <a:off x="10030968" y="32644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retrains the model</a:t>
            </a:r>
            <a:endParaRPr lang="en-US" sz="900" dirty="0"/>
          </a:p>
        </p:txBody>
      </p:sp>
      <p:sp>
        <p:nvSpPr>
          <p:cNvPr id="54" name="Text 45"/>
          <p:cNvSpPr/>
          <p:nvPr/>
        </p:nvSpPr>
        <p:spPr>
          <a:xfrm>
            <a:off x="658368" y="3977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shortlist.  </a:t>
            </a:r>
            <a:r>
              <a:rPr lang="en-US" sz="3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decide.</a:t>
            </a:r>
            <a:endParaRPr lang="en-US" sz="3000" dirty="0"/>
          </a:p>
        </p:txBody>
      </p:sp>
      <p:sp>
        <p:nvSpPr>
          <p:cNvPr id="55" name="Shape 46"/>
          <p:cNvSpPr/>
          <p:nvPr/>
        </p:nvSpPr>
        <p:spPr>
          <a:xfrm>
            <a:off x="658368" y="489204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6" name="Shape 47"/>
          <p:cNvSpPr/>
          <p:nvPr/>
        </p:nvSpPr>
        <p:spPr>
          <a:xfrm>
            <a:off x="789127" y="4999939"/>
            <a:ext cx="652882" cy="65288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57" name="Shape 48"/>
          <p:cNvSpPr/>
          <p:nvPr/>
        </p:nvSpPr>
        <p:spPr>
          <a:xfrm>
            <a:off x="923544" y="5134356"/>
            <a:ext cx="384048" cy="38404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58" name="Image 7" descr="assets/icons/bolt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716" y="5226528"/>
            <a:ext cx="199705" cy="199705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1481328" y="50383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</a:t>
            </a:r>
            <a:endParaRPr lang="en-US" sz="1300" dirty="0"/>
          </a:p>
        </p:txBody>
      </p:sp>
      <p:sp>
        <p:nvSpPr>
          <p:cNvPr id="60" name="Text 50"/>
          <p:cNvSpPr/>
          <p:nvPr/>
        </p:nvSpPr>
        <p:spPr>
          <a:xfrm>
            <a:off x="1481328" y="5349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Time-to-hire</a:t>
            </a:r>
            <a:endParaRPr lang="en-US" sz="950" dirty="0"/>
          </a:p>
        </p:txBody>
      </p:sp>
      <p:sp>
        <p:nvSpPr>
          <p:cNvPr id="61" name="Shape 51"/>
          <p:cNvSpPr/>
          <p:nvPr/>
        </p:nvSpPr>
        <p:spPr>
          <a:xfrm>
            <a:off x="3557016" y="489204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2" name="Shape 52"/>
          <p:cNvSpPr/>
          <p:nvPr/>
        </p:nvSpPr>
        <p:spPr>
          <a:xfrm>
            <a:off x="3687775" y="4999939"/>
            <a:ext cx="652882" cy="65288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63" name="Shape 53"/>
          <p:cNvSpPr/>
          <p:nvPr/>
        </p:nvSpPr>
        <p:spPr>
          <a:xfrm>
            <a:off x="3822192" y="5134356"/>
            <a:ext cx="384048" cy="38404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64" name="Image 8" descr="assets/icons/expand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14364" y="5226528"/>
            <a:ext cx="199705" cy="199705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4379976" y="50383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Wider</a:t>
            </a:r>
            <a:endParaRPr lang="en-US" sz="1300" dirty="0"/>
          </a:p>
        </p:txBody>
      </p:sp>
      <p:sp>
        <p:nvSpPr>
          <p:cNvPr id="66" name="Text 55"/>
          <p:cNvSpPr/>
          <p:nvPr/>
        </p:nvSpPr>
        <p:spPr>
          <a:xfrm>
            <a:off x="4379976" y="5349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reach</a:t>
            </a:r>
            <a:endParaRPr lang="en-US" sz="950" dirty="0"/>
          </a:p>
        </p:txBody>
      </p:sp>
      <p:sp>
        <p:nvSpPr>
          <p:cNvPr id="67" name="Shape 56"/>
          <p:cNvSpPr/>
          <p:nvPr/>
        </p:nvSpPr>
        <p:spPr>
          <a:xfrm>
            <a:off x="6455664" y="489204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8" name="Shape 57"/>
          <p:cNvSpPr/>
          <p:nvPr/>
        </p:nvSpPr>
        <p:spPr>
          <a:xfrm>
            <a:off x="6586423" y="4999939"/>
            <a:ext cx="652882" cy="65288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69" name="Shape 58"/>
          <p:cNvSpPr/>
          <p:nvPr/>
        </p:nvSpPr>
        <p:spPr>
          <a:xfrm>
            <a:off x="6720840" y="5134356"/>
            <a:ext cx="384048" cy="38404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70" name="Image 9" descr="assets/icons/qms_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13012" y="5226528"/>
            <a:ext cx="199705" cy="199705"/>
          </a:xfrm>
          <a:prstGeom prst="rect">
            <a:avLst/>
          </a:prstGeom>
        </p:spPr>
      </p:pic>
      <p:sp>
        <p:nvSpPr>
          <p:cNvPr id="71" name="Text 59"/>
          <p:cNvSpPr/>
          <p:nvPr/>
        </p:nvSpPr>
        <p:spPr>
          <a:xfrm>
            <a:off x="7278624" y="50383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</a:t>
            </a:r>
            <a:endParaRPr lang="en-US" sz="1300" dirty="0"/>
          </a:p>
        </p:txBody>
      </p:sp>
      <p:sp>
        <p:nvSpPr>
          <p:cNvPr id="72" name="Text 60"/>
          <p:cNvSpPr/>
          <p:nvPr/>
        </p:nvSpPr>
        <p:spPr>
          <a:xfrm>
            <a:off x="7278624" y="5349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quality</a:t>
            </a:r>
            <a:endParaRPr lang="en-US" sz="950" dirty="0"/>
          </a:p>
        </p:txBody>
      </p:sp>
      <p:sp>
        <p:nvSpPr>
          <p:cNvPr id="73" name="Shape 61"/>
          <p:cNvSpPr/>
          <p:nvPr/>
        </p:nvSpPr>
        <p:spPr>
          <a:xfrm>
            <a:off x="9354312" y="4892040"/>
            <a:ext cx="2651760" cy="868680"/>
          </a:xfrm>
          <a:prstGeom prst="roundRect">
            <a:avLst>
              <a:gd name="adj" fmla="val 10526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4" name="Shape 62"/>
          <p:cNvSpPr/>
          <p:nvPr/>
        </p:nvSpPr>
        <p:spPr>
          <a:xfrm>
            <a:off x="9485071" y="4999939"/>
            <a:ext cx="652882" cy="65288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75" name="Shape 63"/>
          <p:cNvSpPr/>
          <p:nvPr/>
        </p:nvSpPr>
        <p:spPr>
          <a:xfrm>
            <a:off x="9619488" y="5134356"/>
            <a:ext cx="384048" cy="38404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76" name="Image 10" descr="assets/icons/sync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11660" y="5226528"/>
            <a:ext cx="199705" cy="199705"/>
          </a:xfrm>
          <a:prstGeom prst="rect">
            <a:avLst/>
          </a:prstGeom>
        </p:spPr>
      </p:pic>
      <p:sp>
        <p:nvSpPr>
          <p:cNvPr id="77" name="Text 64"/>
          <p:cNvSpPr/>
          <p:nvPr/>
        </p:nvSpPr>
        <p:spPr>
          <a:xfrm>
            <a:off x="10177272" y="50383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</a:t>
            </a:r>
            <a:endParaRPr lang="en-US" sz="1300" dirty="0"/>
          </a:p>
        </p:txBody>
      </p:sp>
      <p:sp>
        <p:nvSpPr>
          <p:cNvPr id="78" name="Text 65"/>
          <p:cNvSpPr/>
          <p:nvPr/>
        </p:nvSpPr>
        <p:spPr>
          <a:xfrm>
            <a:off x="10177272" y="5349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learning</a:t>
            </a:r>
            <a:endParaRPr lang="en-US" sz="950" dirty="0"/>
          </a:p>
        </p:txBody>
      </p:sp>
      <p:sp>
        <p:nvSpPr>
          <p:cNvPr id="79" name="Text 66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CONFIGUSA</a:t>
            </a:r>
            <a:r>
              <a:rPr lang="en-US" sz="850" kern="0" spc="200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YOUR INTELLIGENT IT PARTNER</a:t>
            </a:r>
            <a:endParaRPr lang="en-US" sz="850" dirty="0"/>
          </a:p>
        </p:txBody>
      </p:sp>
      <p:sp>
        <p:nvSpPr>
          <p:cNvPr id="80" name="Text 67"/>
          <p:cNvSpPr/>
          <p:nvPr/>
        </p:nvSpPr>
        <p:spPr>
          <a:xfrm>
            <a:off x="111556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900" name="Logo Chip"/>
          <p:cNvSpPr/>
          <p:nvPr/>
        </p:nvSpPr>
        <p:spPr>
          <a:xfrm>
            <a:off x="10544320" y="250000"/>
            <a:ext cx="1160000" cy="49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01" name="Config Logo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24320" y="330000"/>
            <a:ext cx="1000000" cy="332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Staffing </a:t>
            </a:r>
            <a:r>
              <a:rPr lang="en-US" sz="3400" b="1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</a:t>
            </a:r>
            <a:r>
              <a:rPr lang="en-US" sz="3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ConfigUSA AI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5212080" cy="548640"/>
          </a:xfrm>
          <a:prstGeom prst="roundRect">
            <a:avLst>
              <a:gd name="adj" fmla="val 15000"/>
            </a:avLst>
          </a:prstGeom>
          <a:solidFill>
            <a:srgbClr val="2A1420">
              <a:alpha val="55000"/>
            </a:srgbClr>
          </a:solidFill>
          <a:ln w="12700">
            <a:solidFill>
              <a:srgbClr val="F87171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9019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STAFFING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783080"/>
            <a:ext cx="5212080" cy="548640"/>
          </a:xfrm>
          <a:prstGeom prst="roundRect">
            <a:avLst>
              <a:gd name="adj" fmla="val 15000"/>
            </a:avLst>
          </a:prstGeom>
          <a:solidFill>
            <a:srgbClr val="0C2A2E">
              <a:alpha val="70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9019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5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CONFIGUSA AI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2468880"/>
            <a:ext cx="5212080" cy="621792"/>
          </a:xfrm>
          <a:prstGeom prst="roundRect">
            <a:avLst>
              <a:gd name="adj" fmla="val 10294"/>
            </a:avLst>
          </a:prstGeom>
          <a:solidFill>
            <a:srgbClr val="0E1B42">
              <a:alpha val="65000"/>
            </a:srgbClr>
          </a:solidFill>
          <a:ln w="12700">
            <a:solidFill>
              <a:srgbClr val="2A3E6E">
                <a:alpha val="60000"/>
              </a:srgbClr>
            </a:solidFill>
            <a:prstDash val="solid"/>
          </a:ln>
        </p:spPr>
      </p:sp>
      <p:pic>
        <p:nvPicPr>
          <p:cNvPr id="9" name="Image 0" descr="assets/icons/times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65176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25296" y="246888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  </a:t>
            </a:r>
            <a:r>
              <a:rPr lang="en-US" sz="12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keyword search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2468880"/>
            <a:ext cx="5212080" cy="621792"/>
          </a:xfrm>
          <a:prstGeom prst="roundRect">
            <a:avLst>
              <a:gd name="adj" fmla="val 10294"/>
            </a:avLst>
          </a:prstGeom>
          <a:solidFill>
            <a:srgbClr val="122253">
              <a:alpha val="80000"/>
            </a:srgbClr>
          </a:solidFill>
          <a:ln w="12700">
            <a:solidFill>
              <a:srgbClr val="3E6BD6">
                <a:alpha val="60000"/>
              </a:srgbClr>
            </a:solidFill>
            <a:prstDash val="solid"/>
          </a:ln>
        </p:spPr>
      </p:sp>
      <p:pic>
        <p:nvPicPr>
          <p:cNvPr id="12" name="Image 1" descr="assets/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265176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76288" y="246888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  </a:t>
            </a:r>
            <a:r>
              <a:rPr lang="en-US" sz="1200" dirty="0">
                <a:solidFill>
                  <a:srgbClr val="E7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multi-channel + skill graph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58368" y="3191256"/>
            <a:ext cx="5212080" cy="621792"/>
          </a:xfrm>
          <a:prstGeom prst="roundRect">
            <a:avLst>
              <a:gd name="adj" fmla="val 10294"/>
            </a:avLst>
          </a:prstGeom>
          <a:solidFill>
            <a:srgbClr val="0E1B42">
              <a:alpha val="65000"/>
            </a:srgbClr>
          </a:solidFill>
          <a:ln w="12700">
            <a:solidFill>
              <a:srgbClr val="2A3E6E">
                <a:alpha val="60000"/>
              </a:srgbClr>
            </a:solidFill>
            <a:prstDash val="solid"/>
          </a:ln>
        </p:spPr>
      </p:sp>
      <p:pic>
        <p:nvPicPr>
          <p:cNvPr id="15" name="Image 2" descr="assets/icons/times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37413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25296" y="319125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  </a:t>
            </a:r>
            <a:r>
              <a:rPr lang="en-US" sz="12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Inconsistent, resume-by-resume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309360" y="3191256"/>
            <a:ext cx="5212080" cy="621792"/>
          </a:xfrm>
          <a:prstGeom prst="roundRect">
            <a:avLst>
              <a:gd name="adj" fmla="val 10294"/>
            </a:avLst>
          </a:prstGeom>
          <a:solidFill>
            <a:srgbClr val="122253">
              <a:alpha val="80000"/>
            </a:srgbClr>
          </a:solidFill>
          <a:ln w="12700">
            <a:solidFill>
              <a:srgbClr val="3E6BD6">
                <a:alpha val="60000"/>
              </a:srgbClr>
            </a:solidFill>
            <a:prstDash val="solid"/>
          </a:ln>
        </p:spPr>
      </p:sp>
      <p:pic>
        <p:nvPicPr>
          <p:cNvPr id="18" name="Image 3" descr="assets/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3374136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76288" y="319125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  </a:t>
            </a:r>
            <a:r>
              <a:rPr lang="en-US" sz="1200" dirty="0">
                <a:solidFill>
                  <a:srgbClr val="E7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Bias-aware automated first pass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58368" y="3913632"/>
            <a:ext cx="5212080" cy="621792"/>
          </a:xfrm>
          <a:prstGeom prst="roundRect">
            <a:avLst>
              <a:gd name="adj" fmla="val 10294"/>
            </a:avLst>
          </a:prstGeom>
          <a:solidFill>
            <a:srgbClr val="0E1B42">
              <a:alpha val="65000"/>
            </a:srgbClr>
          </a:solidFill>
          <a:ln w="12700">
            <a:solidFill>
              <a:srgbClr val="2A3E6E">
                <a:alpha val="60000"/>
              </a:srgbClr>
            </a:solidFill>
            <a:prstDash val="solid"/>
          </a:ln>
        </p:spPr>
      </p:sp>
      <p:pic>
        <p:nvPicPr>
          <p:cNvPr id="21" name="Image 4" descr="assets/icons/times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96512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25296" y="391363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  </a:t>
            </a:r>
            <a:r>
              <a:rPr lang="en-US" sz="12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overlap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309360" y="3913632"/>
            <a:ext cx="5212080" cy="621792"/>
          </a:xfrm>
          <a:prstGeom prst="roundRect">
            <a:avLst>
              <a:gd name="adj" fmla="val 10294"/>
            </a:avLst>
          </a:prstGeom>
          <a:solidFill>
            <a:srgbClr val="122253">
              <a:alpha val="80000"/>
            </a:srgbClr>
          </a:solidFill>
          <a:ln w="12700">
            <a:solidFill>
              <a:srgbClr val="3E6BD6">
                <a:alpha val="60000"/>
              </a:srgbClr>
            </a:solidFill>
            <a:prstDash val="solid"/>
          </a:ln>
        </p:spPr>
      </p:sp>
      <p:pic>
        <p:nvPicPr>
          <p:cNvPr id="24" name="Image 5" descr="assets/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4096512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876288" y="391363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  </a:t>
            </a:r>
            <a:r>
              <a:rPr lang="en-US" sz="1200" dirty="0">
                <a:solidFill>
                  <a:srgbClr val="E7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fit scoring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658368" y="4636008"/>
            <a:ext cx="5212080" cy="621792"/>
          </a:xfrm>
          <a:prstGeom prst="roundRect">
            <a:avLst>
              <a:gd name="adj" fmla="val 10294"/>
            </a:avLst>
          </a:prstGeom>
          <a:solidFill>
            <a:srgbClr val="0E1B42">
              <a:alpha val="65000"/>
            </a:srgbClr>
          </a:solidFill>
          <a:ln w="12700">
            <a:solidFill>
              <a:srgbClr val="2A3E6E">
                <a:alpha val="60000"/>
              </a:srgbClr>
            </a:solidFill>
            <a:prstDash val="solid"/>
          </a:ln>
        </p:spPr>
      </p:sp>
      <p:pic>
        <p:nvPicPr>
          <p:cNvPr id="27" name="Image 6" descr="assets/icons/times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818888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225296" y="463600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Shortlist   </a:t>
            </a:r>
            <a:r>
              <a:rPr lang="en-US" sz="12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pile of resumes to sort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6309360" y="4636008"/>
            <a:ext cx="5212080" cy="621792"/>
          </a:xfrm>
          <a:prstGeom prst="roundRect">
            <a:avLst>
              <a:gd name="adj" fmla="val 10294"/>
            </a:avLst>
          </a:prstGeom>
          <a:solidFill>
            <a:srgbClr val="122253">
              <a:alpha val="80000"/>
            </a:srgbClr>
          </a:solidFill>
          <a:ln w="12700">
            <a:solidFill>
              <a:srgbClr val="3E6BD6">
                <a:alpha val="60000"/>
              </a:srgbClr>
            </a:solidFill>
            <a:prstDash val="solid"/>
          </a:ln>
        </p:spPr>
      </p:sp>
      <p:pic>
        <p:nvPicPr>
          <p:cNvPr id="30" name="Image 7" descr="assets/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4818888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876288" y="463600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Shortlist   </a:t>
            </a:r>
            <a:r>
              <a:rPr lang="en-US" sz="1200" dirty="0">
                <a:solidFill>
                  <a:srgbClr val="E7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list, each with a rationale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658368" y="5358384"/>
            <a:ext cx="5212080" cy="621792"/>
          </a:xfrm>
          <a:prstGeom prst="roundRect">
            <a:avLst>
              <a:gd name="adj" fmla="val 10294"/>
            </a:avLst>
          </a:prstGeom>
          <a:solidFill>
            <a:srgbClr val="0E1B42">
              <a:alpha val="65000"/>
            </a:srgbClr>
          </a:solidFill>
          <a:ln w="12700">
            <a:solidFill>
              <a:srgbClr val="2A3E6E">
                <a:alpha val="60000"/>
              </a:srgbClr>
            </a:solidFill>
            <a:prstDash val="solid"/>
          </a:ln>
        </p:spPr>
      </p:sp>
      <p:pic>
        <p:nvPicPr>
          <p:cNvPr id="33" name="Image 8" descr="assets/icons/times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5541264"/>
            <a:ext cx="256032" cy="25603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1225296" y="535838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  </a:t>
            </a:r>
            <a:r>
              <a:rPr lang="en-US" sz="12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per requisition</a:t>
            </a:r>
            <a:endParaRPr lang="en-US" sz="1200" dirty="0"/>
          </a:p>
        </p:txBody>
      </p:sp>
      <p:sp>
        <p:nvSpPr>
          <p:cNvPr id="35" name="Shape 24"/>
          <p:cNvSpPr/>
          <p:nvPr/>
        </p:nvSpPr>
        <p:spPr>
          <a:xfrm>
            <a:off x="6309360" y="5358384"/>
            <a:ext cx="5212080" cy="621792"/>
          </a:xfrm>
          <a:prstGeom prst="roundRect">
            <a:avLst>
              <a:gd name="adj" fmla="val 10294"/>
            </a:avLst>
          </a:prstGeom>
          <a:solidFill>
            <a:srgbClr val="122253">
              <a:alpha val="80000"/>
            </a:srgbClr>
          </a:solidFill>
          <a:ln w="12700">
            <a:solidFill>
              <a:srgbClr val="3E6BD6">
                <a:alpha val="60000"/>
              </a:srgbClr>
            </a:solidFill>
            <a:prstDash val="solid"/>
          </a:ln>
        </p:spPr>
      </p:sp>
      <p:pic>
        <p:nvPicPr>
          <p:cNvPr id="36" name="Image 9" descr="assets/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5541264"/>
            <a:ext cx="256032" cy="25603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876288" y="535838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  </a:t>
            </a:r>
            <a:r>
              <a:rPr lang="en-US" sz="1200" dirty="0">
                <a:solidFill>
                  <a:srgbClr val="E7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per requisition</a:t>
            </a:r>
            <a:endParaRPr lang="en-US" sz="1200" dirty="0"/>
          </a:p>
        </p:txBody>
      </p:sp>
      <p:sp>
        <p:nvSpPr>
          <p:cNvPr id="38" name="Shape 26"/>
          <p:cNvSpPr/>
          <p:nvPr/>
        </p:nvSpPr>
        <p:spPr>
          <a:xfrm>
            <a:off x="658368" y="6080760"/>
            <a:ext cx="5212080" cy="621792"/>
          </a:xfrm>
          <a:prstGeom prst="roundRect">
            <a:avLst>
              <a:gd name="adj" fmla="val 10294"/>
            </a:avLst>
          </a:prstGeom>
          <a:solidFill>
            <a:srgbClr val="0E1B42">
              <a:alpha val="65000"/>
            </a:srgbClr>
          </a:solidFill>
          <a:ln w="12700">
            <a:solidFill>
              <a:srgbClr val="2A3E6E">
                <a:alpha val="60000"/>
              </a:srgbClr>
            </a:solidFill>
            <a:prstDash val="solid"/>
          </a:ln>
        </p:spPr>
      </p:sp>
      <p:pic>
        <p:nvPicPr>
          <p:cNvPr id="39" name="Image 10" descr="assets/icons/times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6263640"/>
            <a:ext cx="256032" cy="256032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1225296" y="608076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   </a:t>
            </a:r>
            <a:r>
              <a:rPr lang="en-US" sz="12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Hand-off, then silence</a:t>
            </a:r>
            <a:endParaRPr lang="en-US" sz="1200" dirty="0"/>
          </a:p>
        </p:txBody>
      </p:sp>
      <p:sp>
        <p:nvSpPr>
          <p:cNvPr id="41" name="Shape 28"/>
          <p:cNvSpPr/>
          <p:nvPr/>
        </p:nvSpPr>
        <p:spPr>
          <a:xfrm>
            <a:off x="6309360" y="6080760"/>
            <a:ext cx="5212080" cy="621792"/>
          </a:xfrm>
          <a:prstGeom prst="roundRect">
            <a:avLst>
              <a:gd name="adj" fmla="val 10294"/>
            </a:avLst>
          </a:prstGeom>
          <a:solidFill>
            <a:srgbClr val="122253">
              <a:alpha val="80000"/>
            </a:srgbClr>
          </a:solidFill>
          <a:ln w="12700">
            <a:solidFill>
              <a:srgbClr val="3E6BD6">
                <a:alpha val="60000"/>
              </a:srgbClr>
            </a:solidFill>
            <a:prstDash val="solid"/>
          </a:ln>
        </p:spPr>
      </p:sp>
      <p:pic>
        <p:nvPicPr>
          <p:cNvPr id="42" name="Image 11" descr="assets/icons/check_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6263640"/>
            <a:ext cx="256032" cy="256032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6876288" y="608076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   </a:t>
            </a:r>
            <a:r>
              <a:rPr lang="en-US" sz="1200" dirty="0">
                <a:solidFill>
                  <a:srgbClr val="E7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SPOC + validation gate</a:t>
            </a:r>
            <a:endParaRPr lang="en-US" sz="1200" dirty="0"/>
          </a:p>
        </p:txBody>
      </p:sp>
      <p:sp>
        <p:nvSpPr>
          <p:cNvPr id="44" name="Shape 30"/>
          <p:cNvSpPr/>
          <p:nvPr/>
        </p:nvSpPr>
        <p:spPr>
          <a:xfrm>
            <a:off x="5815584" y="3063240"/>
            <a:ext cx="566928" cy="566928"/>
          </a:xfrm>
          <a:prstGeom prst="ellipse">
            <a:avLst/>
          </a:prstGeom>
          <a:solidFill>
            <a:srgbClr val="0A1330"/>
          </a:solidFill>
          <a:ln w="19050">
            <a:solidFill>
              <a:srgbClr val="3E6BD6"/>
            </a:solidFill>
            <a:prstDash val="solid"/>
          </a:ln>
        </p:spPr>
      </p:sp>
      <p:sp>
        <p:nvSpPr>
          <p:cNvPr id="45" name="Text 31"/>
          <p:cNvSpPr/>
          <p:nvPr/>
        </p:nvSpPr>
        <p:spPr>
          <a:xfrm>
            <a:off x="5815584" y="3145536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300" dirty="0"/>
          </a:p>
        </p:txBody>
      </p:sp>
      <p:sp>
        <p:nvSpPr>
          <p:cNvPr id="46" name="Text 3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CONFIGUSA</a:t>
            </a:r>
            <a:r>
              <a:rPr lang="en-US" sz="850" kern="0" spc="200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YOUR INTELLIGENT IT PARTNER</a:t>
            </a:r>
            <a:endParaRPr lang="en-US" sz="850" dirty="0"/>
          </a:p>
        </p:txBody>
      </p:sp>
      <p:sp>
        <p:nvSpPr>
          <p:cNvPr id="47" name="Text 33"/>
          <p:cNvSpPr/>
          <p:nvPr/>
        </p:nvSpPr>
        <p:spPr>
          <a:xfrm>
            <a:off x="111556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900" name="Logo Chip"/>
          <p:cNvSpPr/>
          <p:nvPr/>
        </p:nvSpPr>
        <p:spPr>
          <a:xfrm>
            <a:off x="10544320" y="250000"/>
            <a:ext cx="1160000" cy="49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01" name="Config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4320" y="330000"/>
            <a:ext cx="1000000" cy="332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Expertise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Certified, project-tested talent across the enterprise stack — plus the AI and data skills that now sit alongside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36676" y="2171700"/>
            <a:ext cx="777240" cy="77724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96696" y="2331720"/>
            <a:ext cx="457200" cy="45720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8" name="Image 0" descr="assets/icons/cub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244144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2735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S/4HANA · FICO · SD/MM · SuccessFactors · Ariba · BW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3557016" y="2011680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35324" y="2171700"/>
            <a:ext cx="777240" cy="77724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3895344" y="2331720"/>
            <a:ext cx="457200" cy="45720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14" name="Image 1" descr="assets/icons/clou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5072" y="244144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13048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813048" y="32735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· Apex · Visualforce · Sales &amp; Service Cloud · Pardot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6455664" y="2011680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633972" y="2171700"/>
            <a:ext cx="777240" cy="77724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6793992" y="2331720"/>
            <a:ext cx="457200" cy="45720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20" name="Image 2" descr="assets/icons/ser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244144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11696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711696" y="32735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architecture · migration · SDK · well-architected</a:t>
            </a:r>
            <a:endParaRPr lang="en-US" sz="980" dirty="0"/>
          </a:p>
        </p:txBody>
      </p:sp>
      <p:sp>
        <p:nvSpPr>
          <p:cNvPr id="23" name="Shape 18"/>
          <p:cNvSpPr/>
          <p:nvPr/>
        </p:nvSpPr>
        <p:spPr>
          <a:xfrm>
            <a:off x="9354312" y="2011680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532620" y="2171700"/>
            <a:ext cx="777240" cy="77724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9692640" y="2331720"/>
            <a:ext cx="457200" cy="45720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26" name="Image 3" descr="assets/icons/us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2368" y="2441448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10344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Workday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610344" y="32735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 · Recruiting · Payroll · Absence · Benefits · Finance</a:t>
            </a:r>
            <a:endParaRPr lang="en-US" sz="980" dirty="0"/>
          </a:p>
        </p:txBody>
      </p:sp>
      <p:sp>
        <p:nvSpPr>
          <p:cNvPr id="29" name="Shape 23"/>
          <p:cNvSpPr/>
          <p:nvPr/>
        </p:nvSpPr>
        <p:spPr>
          <a:xfrm>
            <a:off x="658368" y="4050792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36676" y="4210812"/>
            <a:ext cx="777240" cy="77724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996696" y="4370832"/>
            <a:ext cx="457200" cy="45720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32" name="Image 4" descr="assets/icons/codebranch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424" y="4480560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14400" y="4965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914400" y="53126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· IaC · containers · release engineering · SRE</a:t>
            </a:r>
            <a:endParaRPr lang="en-US" sz="980" dirty="0"/>
          </a:p>
        </p:txBody>
      </p:sp>
      <p:sp>
        <p:nvSpPr>
          <p:cNvPr id="35" name="Shape 28"/>
          <p:cNvSpPr/>
          <p:nvPr/>
        </p:nvSpPr>
        <p:spPr>
          <a:xfrm>
            <a:off x="3557016" y="4050792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735324" y="4210812"/>
            <a:ext cx="777240" cy="77724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7" name="Shape 30"/>
          <p:cNvSpPr/>
          <p:nvPr/>
        </p:nvSpPr>
        <p:spPr>
          <a:xfrm>
            <a:off x="3895344" y="4370832"/>
            <a:ext cx="457200" cy="45720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38" name="Image 5" descr="assets/icons/layer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5072" y="4480560"/>
            <a:ext cx="237744" cy="23774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813048" y="4965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3813048" y="53126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Multi-cloud architecture · cost optimisation · resilience</a:t>
            </a:r>
            <a:endParaRPr lang="en-US" sz="980" dirty="0"/>
          </a:p>
        </p:txBody>
      </p:sp>
      <p:sp>
        <p:nvSpPr>
          <p:cNvPr id="41" name="Shape 33"/>
          <p:cNvSpPr/>
          <p:nvPr/>
        </p:nvSpPr>
        <p:spPr>
          <a:xfrm>
            <a:off x="6455664" y="4050792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6633972" y="4210812"/>
            <a:ext cx="777240" cy="77724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3" name="Shape 35"/>
          <p:cNvSpPr/>
          <p:nvPr/>
        </p:nvSpPr>
        <p:spPr>
          <a:xfrm>
            <a:off x="6793992" y="4370832"/>
            <a:ext cx="457200" cy="45720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44" name="Image 6" descr="assets/icons/databas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3720" y="4480560"/>
            <a:ext cx="237744" cy="237744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711696" y="4965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</a:t>
            </a:r>
            <a:endParaRPr lang="en-US" sz="1500" dirty="0"/>
          </a:p>
        </p:txBody>
      </p:sp>
      <p:sp>
        <p:nvSpPr>
          <p:cNvPr id="46" name="Text 37"/>
          <p:cNvSpPr/>
          <p:nvPr/>
        </p:nvSpPr>
        <p:spPr>
          <a:xfrm>
            <a:off x="6711696" y="53126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· warehousing · streaming · governance</a:t>
            </a:r>
            <a:endParaRPr lang="en-US" sz="980" dirty="0"/>
          </a:p>
        </p:txBody>
      </p:sp>
      <p:sp>
        <p:nvSpPr>
          <p:cNvPr id="47" name="Shape 38"/>
          <p:cNvSpPr/>
          <p:nvPr/>
        </p:nvSpPr>
        <p:spPr>
          <a:xfrm>
            <a:off x="9354312" y="4050792"/>
            <a:ext cx="2651760" cy="1783080"/>
          </a:xfrm>
          <a:prstGeom prst="roundRect">
            <a:avLst>
              <a:gd name="adj" fmla="val 4615"/>
            </a:avLst>
          </a:prstGeom>
          <a:solidFill>
            <a:srgbClr val="0C2436">
              <a:alpha val="65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9532620" y="4210812"/>
            <a:ext cx="777240" cy="77724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9" name="Shape 40"/>
          <p:cNvSpPr/>
          <p:nvPr/>
        </p:nvSpPr>
        <p:spPr>
          <a:xfrm>
            <a:off x="9692640" y="4370832"/>
            <a:ext cx="457200" cy="45720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50" name="Image 7" descr="assets/icons/brain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02368" y="4480560"/>
            <a:ext cx="237744" cy="237744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9610344" y="49651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</a:t>
            </a:r>
            <a:endParaRPr lang="en-US" sz="1500" dirty="0"/>
          </a:p>
        </p:txBody>
      </p:sp>
      <p:sp>
        <p:nvSpPr>
          <p:cNvPr id="52" name="Text 42"/>
          <p:cNvSpPr/>
          <p:nvPr/>
        </p:nvSpPr>
        <p:spPr>
          <a:xfrm>
            <a:off x="9610344" y="53126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engineering · MLOps · applied analytics · GenAI</a:t>
            </a:r>
            <a:endParaRPr lang="en-US" sz="980" dirty="0"/>
          </a:p>
        </p:txBody>
      </p:sp>
      <p:sp>
        <p:nvSpPr>
          <p:cNvPr id="53" name="Text 43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CONFIGUSA</a:t>
            </a:r>
            <a:r>
              <a:rPr lang="en-US" sz="850" kern="0" spc="200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YOUR INTELLIGENT IT PARTNER</a:t>
            </a:r>
            <a:endParaRPr lang="en-US" sz="850" dirty="0"/>
          </a:p>
        </p:txBody>
      </p:sp>
      <p:sp>
        <p:nvSpPr>
          <p:cNvPr id="54" name="Text 44"/>
          <p:cNvSpPr/>
          <p:nvPr/>
        </p:nvSpPr>
        <p:spPr>
          <a:xfrm>
            <a:off x="111556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900" name="Logo Chip"/>
          <p:cNvSpPr/>
          <p:nvPr/>
        </p:nvSpPr>
        <p:spPr>
          <a:xfrm>
            <a:off x="10544320" y="250000"/>
            <a:ext cx="1160000" cy="49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01" name="Config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4320" y="330000"/>
            <a:ext cx="1000000" cy="332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Excellence Across Industries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8994" y="2061058"/>
            <a:ext cx="870509" cy="870509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728216" y="2240280"/>
            <a:ext cx="512064" cy="512064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7" name="Image 0" descr="assets/icons/landmar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1111" y="2363175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28986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&amp; Financial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59536" y="331927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banking · risk · payments · FinTech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3557016" y="187452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47642" y="2061058"/>
            <a:ext cx="870509" cy="870509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626864" y="2240280"/>
            <a:ext cx="512064" cy="512064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13" name="Image 1" descr="assets/icons/heartbea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759" y="2363175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39896" y="28986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758184" y="331927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EHR · interoperability · care analytics · devices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6455664" y="187452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46290" y="2061058"/>
            <a:ext cx="870509" cy="870509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7525512" y="2240280"/>
            <a:ext cx="512064" cy="512064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19" name="Image 2" descr="assets/icons/pill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8407" y="2363175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38544" y="28986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 &amp; Life Sciences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656832" y="331927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systems · clinical data · compliance</a:t>
            </a:r>
            <a:endParaRPr lang="en-US" sz="980" dirty="0"/>
          </a:p>
        </p:txBody>
      </p:sp>
      <p:sp>
        <p:nvSpPr>
          <p:cNvPr id="22" name="Shape 17"/>
          <p:cNvSpPr/>
          <p:nvPr/>
        </p:nvSpPr>
        <p:spPr>
          <a:xfrm>
            <a:off x="9354312" y="187452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244938" y="2061058"/>
            <a:ext cx="870509" cy="870509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10424160" y="2240280"/>
            <a:ext cx="512064" cy="512064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25" name="Image 3" descr="assets/icons/signal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47055" y="2363175"/>
            <a:ext cx="266273" cy="26627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537192" y="28986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Telecom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555480" y="331927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engineering · 5G rollout · OSS/BSS</a:t>
            </a:r>
            <a:endParaRPr lang="en-US" sz="980" dirty="0"/>
          </a:p>
        </p:txBody>
      </p:sp>
      <p:sp>
        <p:nvSpPr>
          <p:cNvPr id="28" name="Shape 22"/>
          <p:cNvSpPr/>
          <p:nvPr/>
        </p:nvSpPr>
        <p:spPr>
          <a:xfrm>
            <a:off x="658368" y="402336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548994" y="4209898"/>
            <a:ext cx="870509" cy="870509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0" name="Shape 24"/>
          <p:cNvSpPr/>
          <p:nvPr/>
        </p:nvSpPr>
        <p:spPr>
          <a:xfrm>
            <a:off x="1728216" y="4389120"/>
            <a:ext cx="512064" cy="512064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31" name="Image 4" descr="assets/icons/balanc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51111" y="4512015"/>
            <a:ext cx="266273" cy="26627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41248" y="5047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859536" y="546811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Public-sector programmes · compliance-first</a:t>
            </a:r>
            <a:endParaRPr lang="en-US" sz="980" dirty="0"/>
          </a:p>
        </p:txBody>
      </p:sp>
      <p:sp>
        <p:nvSpPr>
          <p:cNvPr id="34" name="Shape 27"/>
          <p:cNvSpPr/>
          <p:nvPr/>
        </p:nvSpPr>
        <p:spPr>
          <a:xfrm>
            <a:off x="3557016" y="402336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447642" y="4209898"/>
            <a:ext cx="870509" cy="870509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36" name="Shape 29"/>
          <p:cNvSpPr/>
          <p:nvPr/>
        </p:nvSpPr>
        <p:spPr>
          <a:xfrm>
            <a:off x="4626864" y="4389120"/>
            <a:ext cx="512064" cy="512064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37" name="Image 5" descr="assets/icons/industry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9759" y="4512015"/>
            <a:ext cx="266273" cy="266273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739896" y="5047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3758184" y="546811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· supply chain · Industry 4.0 · plant systems</a:t>
            </a:r>
            <a:endParaRPr lang="en-US" sz="980" dirty="0"/>
          </a:p>
        </p:txBody>
      </p:sp>
      <p:sp>
        <p:nvSpPr>
          <p:cNvPr id="40" name="Shape 32"/>
          <p:cNvSpPr/>
          <p:nvPr/>
        </p:nvSpPr>
        <p:spPr>
          <a:xfrm>
            <a:off x="6455664" y="402336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7346290" y="4209898"/>
            <a:ext cx="870509" cy="870509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42" name="Shape 34"/>
          <p:cNvSpPr/>
          <p:nvPr/>
        </p:nvSpPr>
        <p:spPr>
          <a:xfrm>
            <a:off x="7525512" y="4389120"/>
            <a:ext cx="512064" cy="512064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43" name="Image 6" descr="assets/icons/video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8407" y="4512015"/>
            <a:ext cx="266273" cy="266273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638544" y="5047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&amp; Hi-Tech</a:t>
            </a:r>
            <a:endParaRPr lang="en-US" sz="1400" dirty="0"/>
          </a:p>
        </p:txBody>
      </p:sp>
      <p:sp>
        <p:nvSpPr>
          <p:cNvPr id="45" name="Text 36"/>
          <p:cNvSpPr/>
          <p:nvPr/>
        </p:nvSpPr>
        <p:spPr>
          <a:xfrm>
            <a:off x="6656832" y="546811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platforms · content pipelines · cloud scale</a:t>
            </a:r>
            <a:endParaRPr lang="en-US" sz="980" dirty="0"/>
          </a:p>
        </p:txBody>
      </p:sp>
      <p:sp>
        <p:nvSpPr>
          <p:cNvPr id="46" name="Shape 37"/>
          <p:cNvSpPr/>
          <p:nvPr/>
        </p:nvSpPr>
        <p:spPr>
          <a:xfrm>
            <a:off x="9354312" y="4023360"/>
            <a:ext cx="2651760" cy="1874520"/>
          </a:xfrm>
          <a:prstGeom prst="roundRect">
            <a:avLst>
              <a:gd name="adj" fmla="val 4390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10244938" y="4209898"/>
            <a:ext cx="870509" cy="870509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8" name="Shape 39"/>
          <p:cNvSpPr/>
          <p:nvPr/>
        </p:nvSpPr>
        <p:spPr>
          <a:xfrm>
            <a:off x="10424160" y="4389120"/>
            <a:ext cx="512064" cy="512064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49" name="Image 7" descr="assets/icons/microchip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7055" y="4512015"/>
            <a:ext cx="266273" cy="266273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9537192" y="50474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51" name="Text 41"/>
          <p:cNvSpPr/>
          <p:nvPr/>
        </p:nvSpPr>
        <p:spPr>
          <a:xfrm>
            <a:off x="9555480" y="5468112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engineering · AI/ML · cybersecurity</a:t>
            </a:r>
            <a:endParaRPr lang="en-US" sz="980" dirty="0"/>
          </a:p>
        </p:txBody>
      </p:sp>
      <p:sp>
        <p:nvSpPr>
          <p:cNvPr id="52" name="Text 42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CONFIGUSA</a:t>
            </a:r>
            <a:r>
              <a:rPr lang="en-US" sz="850" kern="0" spc="200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YOUR INTELLIGENT IT PARTNER</a:t>
            </a:r>
            <a:endParaRPr lang="en-US" sz="850" dirty="0"/>
          </a:p>
        </p:txBody>
      </p:sp>
      <p:sp>
        <p:nvSpPr>
          <p:cNvPr id="53" name="Text 43"/>
          <p:cNvSpPr/>
          <p:nvPr/>
        </p:nvSpPr>
        <p:spPr>
          <a:xfrm>
            <a:off x="111556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900" name="Logo Chip"/>
          <p:cNvSpPr/>
          <p:nvPr/>
        </p:nvSpPr>
        <p:spPr>
          <a:xfrm>
            <a:off x="10544320" y="250000"/>
            <a:ext cx="1160000" cy="49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01" name="Config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4320" y="330000"/>
            <a:ext cx="1000000" cy="332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COMPLIANCE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Certifications &amp; Compliance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that let enterprise and public-sector buyers contract with us quickly and confidently.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965960"/>
            <a:ext cx="2651760" cy="2606040"/>
          </a:xfrm>
          <a:prstGeom prst="roundRect">
            <a:avLst>
              <a:gd name="adj" fmla="val 3158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3E6BD6">
                <a:alpha val="5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17904" y="2139696"/>
            <a:ext cx="932688" cy="932688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709928" y="2331720"/>
            <a:ext cx="548640" cy="54864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8" name="Image 0" descr="assets/icons/build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602" y="246339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95528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 ENTERPRISE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14400" y="3721608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small-business supplier status for state and enterprise procurement programmes.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557016" y="1965960"/>
            <a:ext cx="2651760" cy="2606040"/>
          </a:xfrm>
          <a:prstGeom prst="roundRect">
            <a:avLst>
              <a:gd name="adj" fmla="val 3158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3E6BD6">
                <a:alpha val="5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16552" y="2139696"/>
            <a:ext cx="932688" cy="932688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608576" y="2331720"/>
            <a:ext cx="548640" cy="54864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15" name="Image 1" descr="assets/icons/landmar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250" y="2463394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57016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3694176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FOR AWARD MANAGEMENT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813048" y="3721608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for U.S. federal contracting via FedBiz Access strategic contracting solutions.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455664" y="1965960"/>
            <a:ext cx="2651760" cy="2606040"/>
          </a:xfrm>
          <a:prstGeom prst="roundRect">
            <a:avLst>
              <a:gd name="adj" fmla="val 3158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3E6BD6">
                <a:alpha val="5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315200" y="2139696"/>
            <a:ext cx="932688" cy="932688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7507224" y="2331720"/>
            <a:ext cx="548640" cy="54864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22" name="Image 2" descr="assets/icons/balanc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8898" y="2463394"/>
            <a:ext cx="285293" cy="28529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55664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M/WBE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6592824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MINORITY / WOMAN-OWNED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711696" y="3721608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Diverse-supplier credential supporting client supplier-diversity commitments.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354312" y="1965960"/>
            <a:ext cx="2651760" cy="2606040"/>
          </a:xfrm>
          <a:prstGeom prst="roundRect">
            <a:avLst>
              <a:gd name="adj" fmla="val 3158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3E6BD6">
                <a:alpha val="5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10213848" y="2139696"/>
            <a:ext cx="932688" cy="932688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10405872" y="2331720"/>
            <a:ext cx="548640" cy="54864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29" name="Image 3" descr="assets/icons/user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7546" y="2463394"/>
            <a:ext cx="285293" cy="28529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354312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E-Verify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9491472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ELIGIBILITY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9610344" y="3721608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placement verified for employment eligibility under the federal E-Verify programme.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58368" y="48463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22253">
              <a:alpha val="78000"/>
            </a:srgbClr>
          </a:solidFill>
          <a:ln w="12700">
            <a:solidFill>
              <a:srgbClr val="3E6BD6">
                <a:alpha val="6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54380" y="4892040"/>
            <a:ext cx="777240" cy="777240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35" name="Shape 29"/>
          <p:cNvSpPr/>
          <p:nvPr/>
        </p:nvSpPr>
        <p:spPr>
          <a:xfrm>
            <a:off x="914400" y="5052060"/>
            <a:ext cx="457200" cy="457200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36" name="Image 4" descr="assets/icons/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" y="5161788"/>
            <a:ext cx="237744" cy="23774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691640" y="484632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by our Quality Management System.  </a:t>
            </a:r>
            <a:r>
              <a:rPr lang="en-US" sz="125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screening, validation and onboarding standards applied on every engagement.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CONFIGUSA</a:t>
            </a:r>
            <a:r>
              <a:rPr lang="en-US" sz="850" kern="0" spc="200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YOUR INTELLIGENT IT PARTNER</a:t>
            </a:r>
            <a:endParaRPr lang="en-US" sz="850" dirty="0"/>
          </a:p>
        </p:txBody>
      </p:sp>
      <p:sp>
        <p:nvSpPr>
          <p:cNvPr id="39" name="Text 32"/>
          <p:cNvSpPr/>
          <p:nvPr/>
        </p:nvSpPr>
        <p:spPr>
          <a:xfrm>
            <a:off x="111556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900" name="Logo Chip"/>
          <p:cNvSpPr/>
          <p:nvPr/>
        </p:nvSpPr>
        <p:spPr>
          <a:xfrm>
            <a:off x="10544320" y="250000"/>
            <a:ext cx="1160000" cy="49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01" name="Config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4320" y="330000"/>
            <a:ext cx="1000000" cy="332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ien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>
                <a:solidFill>
                  <a:srgbClr val="38BDF8"/>
                </a:solidFill>
                <a:latin typeface="Arial" pitchFamily="34" charset="0"/>
                <a:cs typeface="Arial"/>
              </a:rPr>
              <a:t>OUR CLIENTS</a:t>
            </a:r>
          </a:p>
        </p:txBody>
      </p:sp>
      <p:sp>
        <p:nvSpPr>
          <p:cNvPr id="3" name="Title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FFFFF"/>
                </a:solidFill>
                <a:latin typeface="Arial" pitchFamily="34" charset="0"/>
                <a:cs typeface="Arial"/>
              </a:rPr>
              <a:t>Trusted by Government &amp; Enterprise</a:t>
            </a:r>
          </a:p>
        </p:txBody>
      </p:sp>
      <p:sp>
        <p:nvSpPr>
          <p:cNvPr id="4" name="Subtitle"/>
          <p:cNvSpPr/>
          <p:nvPr/>
        </p:nvSpPr>
        <p:spPr>
          <a:xfrm>
            <a:off x="640080" y="1400000"/>
            <a:ext cx="9600000" cy="3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>
                <a:solidFill>
                  <a:srgbClr val="9FB1D0"/>
                </a:solidFill>
                <a:latin typeface="Arial" pitchFamily="34" charset="0"/>
                <a:cs typeface="Arial"/>
              </a:rPr>
              <a:t>Eight U.S. state governments · enterprise, healthcare, pharma &amp; technology leaders</a:t>
            </a:r>
          </a:p>
        </p:txBody>
      </p:sp>
      <p:sp>
        <p:nvSpPr>
          <p:cNvPr id="100" name="Card 1"/>
          <p:cNvSpPr/>
          <p:nvPr/>
        </p:nvSpPr>
        <p:spPr>
          <a:xfrm>
            <a:off x="640080" y="17900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1" name="Logo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80" y="2152709"/>
            <a:ext cx="1338640" cy="272081"/>
          </a:xfrm>
          <a:prstGeom prst="rect">
            <a:avLst/>
          </a:prstGeom>
        </p:spPr>
      </p:pic>
      <p:sp>
        <p:nvSpPr>
          <p:cNvPr id="102" name="Card 2"/>
          <p:cNvSpPr/>
          <p:nvPr/>
        </p:nvSpPr>
        <p:spPr>
          <a:xfrm>
            <a:off x="2488720" y="17900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3" name="Logo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3720" y="2121420"/>
            <a:ext cx="1338640" cy="334660"/>
          </a:xfrm>
          <a:prstGeom prst="rect">
            <a:avLst/>
          </a:prstGeom>
        </p:spPr>
      </p:pic>
      <p:sp>
        <p:nvSpPr>
          <p:cNvPr id="104" name="Card 3"/>
          <p:cNvSpPr/>
          <p:nvPr/>
        </p:nvSpPr>
        <p:spPr>
          <a:xfrm>
            <a:off x="4337360" y="17900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5" name="Logo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2360" y="2114900"/>
            <a:ext cx="1338640" cy="347698"/>
          </a:xfrm>
          <a:prstGeom prst="rect">
            <a:avLst/>
          </a:prstGeom>
        </p:spPr>
      </p:pic>
      <p:sp>
        <p:nvSpPr>
          <p:cNvPr id="106" name="Card 4"/>
          <p:cNvSpPr/>
          <p:nvPr/>
        </p:nvSpPr>
        <p:spPr>
          <a:xfrm>
            <a:off x="6186000" y="17900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7" name="Logo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000" y="2090138"/>
            <a:ext cx="1338640" cy="397222"/>
          </a:xfrm>
          <a:prstGeom prst="rect">
            <a:avLst/>
          </a:prstGeom>
        </p:spPr>
      </p:pic>
      <p:sp>
        <p:nvSpPr>
          <p:cNvPr id="108" name="Card 5"/>
          <p:cNvSpPr/>
          <p:nvPr/>
        </p:nvSpPr>
        <p:spPr>
          <a:xfrm>
            <a:off x="8034640" y="17900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9" name="Logo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9640" y="2078272"/>
            <a:ext cx="1338640" cy="420955"/>
          </a:xfrm>
          <a:prstGeom prst="rect">
            <a:avLst/>
          </a:prstGeom>
        </p:spPr>
      </p:pic>
      <p:sp>
        <p:nvSpPr>
          <p:cNvPr id="110" name="Card 6"/>
          <p:cNvSpPr/>
          <p:nvPr/>
        </p:nvSpPr>
        <p:spPr>
          <a:xfrm>
            <a:off x="9883280" y="17900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1" name="Logo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8280" y="2039932"/>
            <a:ext cx="1338640" cy="497635"/>
          </a:xfrm>
          <a:prstGeom prst="rect">
            <a:avLst/>
          </a:prstGeom>
        </p:spPr>
      </p:pic>
      <p:sp>
        <p:nvSpPr>
          <p:cNvPr id="112" name="Card 7"/>
          <p:cNvSpPr/>
          <p:nvPr/>
        </p:nvSpPr>
        <p:spPr>
          <a:xfrm>
            <a:off x="640080" y="29575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3" name="Logo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080" y="3200784"/>
            <a:ext cx="1338640" cy="510931"/>
          </a:xfrm>
          <a:prstGeom prst="rect">
            <a:avLst/>
          </a:prstGeom>
        </p:spPr>
      </p:pic>
      <p:sp>
        <p:nvSpPr>
          <p:cNvPr id="114" name="Card 8"/>
          <p:cNvSpPr/>
          <p:nvPr/>
        </p:nvSpPr>
        <p:spPr>
          <a:xfrm>
            <a:off x="2488720" y="29575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5" name="Logo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3720" y="3158774"/>
            <a:ext cx="1338640" cy="594951"/>
          </a:xfrm>
          <a:prstGeom prst="rect">
            <a:avLst/>
          </a:prstGeom>
        </p:spPr>
      </p:pic>
      <p:sp>
        <p:nvSpPr>
          <p:cNvPr id="116" name="Card 9"/>
          <p:cNvSpPr/>
          <p:nvPr/>
        </p:nvSpPr>
        <p:spPr>
          <a:xfrm>
            <a:off x="4337360" y="29575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7" name="Logo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2360" y="3129752"/>
            <a:ext cx="1338640" cy="652995"/>
          </a:xfrm>
          <a:prstGeom prst="rect">
            <a:avLst/>
          </a:prstGeom>
        </p:spPr>
      </p:pic>
      <p:sp>
        <p:nvSpPr>
          <p:cNvPr id="118" name="Card 10"/>
          <p:cNvSpPr/>
          <p:nvPr/>
        </p:nvSpPr>
        <p:spPr>
          <a:xfrm>
            <a:off x="6186000" y="29575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9" name="Logo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1000" y="3107645"/>
            <a:ext cx="1338640" cy="697208"/>
          </a:xfrm>
          <a:prstGeom prst="rect">
            <a:avLst/>
          </a:prstGeom>
        </p:spPr>
      </p:pic>
      <p:sp>
        <p:nvSpPr>
          <p:cNvPr id="120" name="Card 11"/>
          <p:cNvSpPr/>
          <p:nvPr/>
        </p:nvSpPr>
        <p:spPr>
          <a:xfrm>
            <a:off x="8034640" y="29575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1" name="Logo 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34235" y="3107500"/>
            <a:ext cx="1269450" cy="697500"/>
          </a:xfrm>
          <a:prstGeom prst="rect">
            <a:avLst/>
          </a:prstGeom>
        </p:spPr>
      </p:pic>
      <p:sp>
        <p:nvSpPr>
          <p:cNvPr id="122" name="Card 12"/>
          <p:cNvSpPr/>
          <p:nvPr/>
        </p:nvSpPr>
        <p:spPr>
          <a:xfrm>
            <a:off x="9883280" y="29575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3" name="Logo 1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89850" y="3107500"/>
            <a:ext cx="1255500" cy="697500"/>
          </a:xfrm>
          <a:prstGeom prst="rect">
            <a:avLst/>
          </a:prstGeom>
        </p:spPr>
      </p:pic>
      <p:sp>
        <p:nvSpPr>
          <p:cNvPr id="124" name="Card 13"/>
          <p:cNvSpPr/>
          <p:nvPr/>
        </p:nvSpPr>
        <p:spPr>
          <a:xfrm>
            <a:off x="640080" y="41250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5" name="Logo 1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6650" y="4275000"/>
            <a:ext cx="1255500" cy="697500"/>
          </a:xfrm>
          <a:prstGeom prst="rect">
            <a:avLst/>
          </a:prstGeom>
        </p:spPr>
      </p:pic>
      <p:sp>
        <p:nvSpPr>
          <p:cNvPr id="126" name="Card 14"/>
          <p:cNvSpPr/>
          <p:nvPr/>
        </p:nvSpPr>
        <p:spPr>
          <a:xfrm>
            <a:off x="2488720" y="41250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7" name="Logo 1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95290" y="4275000"/>
            <a:ext cx="1255500" cy="697500"/>
          </a:xfrm>
          <a:prstGeom prst="rect">
            <a:avLst/>
          </a:prstGeom>
        </p:spPr>
      </p:pic>
      <p:sp>
        <p:nvSpPr>
          <p:cNvPr id="128" name="Card 15"/>
          <p:cNvSpPr/>
          <p:nvPr/>
        </p:nvSpPr>
        <p:spPr>
          <a:xfrm>
            <a:off x="4337360" y="41250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9" name="Logo 1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50905" y="4275000"/>
            <a:ext cx="1241550" cy="697500"/>
          </a:xfrm>
          <a:prstGeom prst="rect">
            <a:avLst/>
          </a:prstGeom>
        </p:spPr>
      </p:pic>
      <p:sp>
        <p:nvSpPr>
          <p:cNvPr id="130" name="Card 16"/>
          <p:cNvSpPr/>
          <p:nvPr/>
        </p:nvSpPr>
        <p:spPr>
          <a:xfrm>
            <a:off x="6186000" y="41250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1" name="Logo 1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6482" y="4275000"/>
            <a:ext cx="927675" cy="697500"/>
          </a:xfrm>
          <a:prstGeom prst="rect">
            <a:avLst/>
          </a:prstGeom>
        </p:spPr>
      </p:pic>
      <p:sp>
        <p:nvSpPr>
          <p:cNvPr id="132" name="Card 17"/>
          <p:cNvSpPr/>
          <p:nvPr/>
        </p:nvSpPr>
        <p:spPr>
          <a:xfrm>
            <a:off x="8034640" y="41250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3" name="Logo 1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06260" y="4275000"/>
            <a:ext cx="725400" cy="697500"/>
          </a:xfrm>
          <a:prstGeom prst="rect">
            <a:avLst/>
          </a:prstGeom>
        </p:spPr>
      </p:pic>
      <p:sp>
        <p:nvSpPr>
          <p:cNvPr id="134" name="Card 18"/>
          <p:cNvSpPr/>
          <p:nvPr/>
        </p:nvSpPr>
        <p:spPr>
          <a:xfrm>
            <a:off x="9883280" y="41250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5" name="Logo 1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65362" y="4275000"/>
            <a:ext cx="704475" cy="697500"/>
          </a:xfrm>
          <a:prstGeom prst="rect">
            <a:avLst/>
          </a:prstGeom>
        </p:spPr>
      </p:pic>
      <p:sp>
        <p:nvSpPr>
          <p:cNvPr id="136" name="Card 19"/>
          <p:cNvSpPr/>
          <p:nvPr/>
        </p:nvSpPr>
        <p:spPr>
          <a:xfrm>
            <a:off x="640080" y="52925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7" name="Logo 1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25650" y="5442500"/>
            <a:ext cx="697500" cy="697500"/>
          </a:xfrm>
          <a:prstGeom prst="rect">
            <a:avLst/>
          </a:prstGeom>
        </p:spPr>
      </p:pic>
      <p:sp>
        <p:nvSpPr>
          <p:cNvPr id="138" name="Card 20"/>
          <p:cNvSpPr/>
          <p:nvPr/>
        </p:nvSpPr>
        <p:spPr>
          <a:xfrm>
            <a:off x="2488720" y="52925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9" name="Logo 2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974290" y="5442500"/>
            <a:ext cx="697500" cy="697500"/>
          </a:xfrm>
          <a:prstGeom prst="rect">
            <a:avLst/>
          </a:prstGeom>
        </p:spPr>
      </p:pic>
      <p:sp>
        <p:nvSpPr>
          <p:cNvPr id="140" name="Card 21"/>
          <p:cNvSpPr/>
          <p:nvPr/>
        </p:nvSpPr>
        <p:spPr>
          <a:xfrm>
            <a:off x="4337360" y="52925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1" name="Logo 21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22930" y="5442500"/>
            <a:ext cx="697500" cy="697500"/>
          </a:xfrm>
          <a:prstGeom prst="rect">
            <a:avLst/>
          </a:prstGeom>
        </p:spPr>
      </p:pic>
      <p:sp>
        <p:nvSpPr>
          <p:cNvPr id="142" name="Card 22"/>
          <p:cNvSpPr/>
          <p:nvPr/>
        </p:nvSpPr>
        <p:spPr>
          <a:xfrm>
            <a:off x="6186000" y="52925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3" name="Logo 2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671570" y="5442500"/>
            <a:ext cx="697500" cy="697500"/>
          </a:xfrm>
          <a:prstGeom prst="rect">
            <a:avLst/>
          </a:prstGeom>
        </p:spPr>
      </p:pic>
      <p:sp>
        <p:nvSpPr>
          <p:cNvPr id="144" name="Card 23"/>
          <p:cNvSpPr/>
          <p:nvPr/>
        </p:nvSpPr>
        <p:spPr>
          <a:xfrm>
            <a:off x="8034640" y="52925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5" name="Logo 2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20210" y="5442500"/>
            <a:ext cx="697500" cy="697500"/>
          </a:xfrm>
          <a:prstGeom prst="rect">
            <a:avLst/>
          </a:prstGeom>
        </p:spPr>
      </p:pic>
      <p:sp>
        <p:nvSpPr>
          <p:cNvPr id="146" name="Card 24"/>
          <p:cNvSpPr/>
          <p:nvPr/>
        </p:nvSpPr>
        <p:spPr>
          <a:xfrm>
            <a:off x="9883280" y="5292500"/>
            <a:ext cx="1668640" cy="99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70000" dist="25000" dir="5400000" rotWithShape="0">
              <a:srgbClr val="000000">
                <a:alpha val="2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7" name="Logo 2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389775" y="5442500"/>
            <a:ext cx="655650" cy="697500"/>
          </a:xfrm>
          <a:prstGeom prst="rect">
            <a:avLst/>
          </a:prstGeom>
        </p:spPr>
      </p:pic>
      <p:sp>
        <p:nvSpPr>
          <p:cNvPr id="5" name="Footer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>
                <a:solidFill>
                  <a:srgbClr val="9FB1D0"/>
                </a:solidFill>
                <a:latin typeface="Arial" pitchFamily="34" charset="0"/>
                <a:cs typeface="Arial"/>
              </a:rPr>
              <a:t>CONFIGUSA</a:t>
            </a:r>
            <a:r>
              <a:rPr lang="en-US" sz="850" kern="0" spc="200">
                <a:solidFill>
                  <a:srgbClr val="6C7FA6"/>
                </a:solidFill>
                <a:latin typeface="Arial" pitchFamily="34" charset="0"/>
                <a:cs typeface="Arial"/>
              </a:rPr>
              <a:t>   ·   YOUR INTELLIGENT IT PARTNER</a:t>
            </a:r>
          </a:p>
        </p:txBody>
      </p:sp>
      <p:sp>
        <p:nvSpPr>
          <p:cNvPr id="6" name="PageNum"/>
          <p:cNvSpPr/>
          <p:nvPr/>
        </p:nvSpPr>
        <p:spPr>
          <a:xfrm>
            <a:off x="11155680" y="641908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6C7FA6"/>
                </a:solidFill>
                <a:latin typeface="Arial" pitchFamily="34" charset="0"/>
                <a:cs typeface="Arial"/>
              </a:rPr>
              <a:t>11</a:t>
            </a:r>
          </a:p>
        </p:txBody>
      </p:sp>
      <p:sp>
        <p:nvSpPr>
          <p:cNvPr id="900" name="Logo Chip"/>
          <p:cNvSpPr/>
          <p:nvPr/>
        </p:nvSpPr>
        <p:spPr>
          <a:xfrm>
            <a:off x="10544320" y="250000"/>
            <a:ext cx="1160000" cy="49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01" name="Config Logo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624320" y="330000"/>
            <a:ext cx="1000000" cy="332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Partner With ConfigUSA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4160520" cy="4160520"/>
          </a:xfrm>
          <a:prstGeom prst="roundRect">
            <a:avLst>
              <a:gd name="adj" fmla="val 1978"/>
            </a:avLst>
          </a:prstGeom>
          <a:solidFill>
            <a:srgbClr val="122253">
              <a:alpha val="80000"/>
            </a:srgbClr>
          </a:solidFill>
          <a:ln w="12700">
            <a:solidFill>
              <a:srgbClr val="3E6BD6">
                <a:alpha val="60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42416" y="219456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 firms send resumes.</a:t>
            </a:r>
            <a:endParaRPr lang="en-US" sz="1500" dirty="0"/>
          </a:p>
        </p:txBody>
      </p:sp>
      <p:pic>
        <p:nvPicPr>
          <p:cNvPr id="6" name="Image 0" descr="assets/icons/arrowright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27157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2416" y="3154680"/>
            <a:ext cx="33924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send decisions you can defend.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1042416" y="4480560"/>
            <a:ext cx="3392424" cy="0"/>
          </a:xfrm>
          <a:prstGeom prst="line">
            <a:avLst/>
          </a:prstGeom>
          <a:noFill/>
          <a:ln w="12700">
            <a:solidFill>
              <a:srgbClr val="2A3E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42416" y="4599432"/>
            <a:ext cx="3392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shortlist arrives with a fit rationale, a validated technical assessment and a named owner accountable for the outcome.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42416" y="5276088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2231136" y="5312664"/>
            <a:ext cx="224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our business comes</a:t>
            </a: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dirty="0">
                <a:solidFill>
                  <a:srgbClr val="E7ED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repeat clients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74920" y="1783080"/>
            <a:ext cx="6455664" cy="548640"/>
          </a:xfrm>
          <a:prstGeom prst="roundRect">
            <a:avLst>
              <a:gd name="adj" fmla="val 11667"/>
            </a:avLst>
          </a:prstGeom>
          <a:solidFill>
            <a:srgbClr val="0E1B42">
              <a:alpha val="7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94706" y="1793138"/>
            <a:ext cx="528523" cy="528523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303520" y="1901952"/>
            <a:ext cx="310896" cy="310896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15" name="Image 1" descr="assets/icons/magn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135" y="1976567"/>
            <a:ext cx="161666" cy="16166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24728" y="184708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Recruitment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8686800" y="178308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on evidence and skill graphs, not keyword overlap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5074920" y="2386584"/>
            <a:ext cx="6455664" cy="548640"/>
          </a:xfrm>
          <a:prstGeom prst="roundRect">
            <a:avLst>
              <a:gd name="adj" fmla="val 11667"/>
            </a:avLst>
          </a:prstGeom>
          <a:solidFill>
            <a:srgbClr val="0E1B42">
              <a:alpha val="7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194706" y="2396642"/>
            <a:ext cx="528523" cy="528523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5303520" y="2505456"/>
            <a:ext cx="310896" cy="310896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21" name="Image 2" descr="assets/icons/glob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8135" y="2580071"/>
            <a:ext cx="161666" cy="16166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824728" y="245059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Talent Pool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686800" y="2386584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USA, Canada and India sourcing under one delivery model</a:t>
            </a:r>
            <a:endParaRPr lang="en-US" sz="980" dirty="0"/>
          </a:p>
        </p:txBody>
      </p:sp>
      <p:sp>
        <p:nvSpPr>
          <p:cNvPr id="24" name="Shape 19"/>
          <p:cNvSpPr/>
          <p:nvPr/>
        </p:nvSpPr>
        <p:spPr>
          <a:xfrm>
            <a:off x="5074920" y="2990088"/>
            <a:ext cx="6455664" cy="548640"/>
          </a:xfrm>
          <a:prstGeom prst="roundRect">
            <a:avLst>
              <a:gd name="adj" fmla="val 11667"/>
            </a:avLst>
          </a:prstGeom>
          <a:solidFill>
            <a:srgbClr val="0E1B42">
              <a:alpha val="7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194706" y="3000146"/>
            <a:ext cx="528523" cy="528523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5303520" y="3108960"/>
            <a:ext cx="310896" cy="310896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27" name="Image 3" descr="assets/icons/cub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8135" y="3183575"/>
            <a:ext cx="161666" cy="16166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824728" y="305409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Expertise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8686800" y="2990088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SAP, Salesforce, AWS and Workday depth built over two decades</a:t>
            </a:r>
            <a:endParaRPr lang="en-US" sz="980" dirty="0"/>
          </a:p>
        </p:txBody>
      </p:sp>
      <p:sp>
        <p:nvSpPr>
          <p:cNvPr id="30" name="Shape 24"/>
          <p:cNvSpPr/>
          <p:nvPr/>
        </p:nvSpPr>
        <p:spPr>
          <a:xfrm>
            <a:off x="5074920" y="3593592"/>
            <a:ext cx="6455664" cy="548640"/>
          </a:xfrm>
          <a:prstGeom prst="roundRect">
            <a:avLst>
              <a:gd name="adj" fmla="val 11667"/>
            </a:avLst>
          </a:prstGeom>
          <a:solidFill>
            <a:srgbClr val="0E1B42">
              <a:alpha val="7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194706" y="3603650"/>
            <a:ext cx="528523" cy="528523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5303520" y="3712464"/>
            <a:ext cx="310896" cy="310896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33" name="Image 4" descr="assets/icons/bol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8135" y="3787079"/>
            <a:ext cx="161666" cy="16166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824728" y="365760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Hiring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8686800" y="3593592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sourcing and screening compress the shortlist cycle</a:t>
            </a:r>
            <a:endParaRPr lang="en-US" sz="980" dirty="0"/>
          </a:p>
        </p:txBody>
      </p:sp>
      <p:sp>
        <p:nvSpPr>
          <p:cNvPr id="36" name="Shape 29"/>
          <p:cNvSpPr/>
          <p:nvPr/>
        </p:nvSpPr>
        <p:spPr>
          <a:xfrm>
            <a:off x="5074920" y="4197096"/>
            <a:ext cx="6455664" cy="548640"/>
          </a:xfrm>
          <a:prstGeom prst="roundRect">
            <a:avLst>
              <a:gd name="adj" fmla="val 11667"/>
            </a:avLst>
          </a:prstGeom>
          <a:solidFill>
            <a:srgbClr val="0E1B42">
              <a:alpha val="7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5194706" y="4207154"/>
            <a:ext cx="528523" cy="528523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8" name="Shape 31"/>
          <p:cNvSpPr/>
          <p:nvPr/>
        </p:nvSpPr>
        <p:spPr>
          <a:xfrm>
            <a:off x="5303520" y="4315968"/>
            <a:ext cx="310896" cy="310896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39" name="Image 5" descr="assets/icons/sync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8135" y="4390583"/>
            <a:ext cx="161666" cy="16166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824728" y="426110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Engagement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8686800" y="4197096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Temporary, project-based and dedicated team models</a:t>
            </a:r>
            <a:endParaRPr lang="en-US" sz="980" dirty="0"/>
          </a:p>
        </p:txBody>
      </p:sp>
      <p:sp>
        <p:nvSpPr>
          <p:cNvPr id="42" name="Shape 34"/>
          <p:cNvSpPr/>
          <p:nvPr/>
        </p:nvSpPr>
        <p:spPr>
          <a:xfrm>
            <a:off x="5074920" y="4800600"/>
            <a:ext cx="6455664" cy="548640"/>
          </a:xfrm>
          <a:prstGeom prst="roundRect">
            <a:avLst>
              <a:gd name="adj" fmla="val 11667"/>
            </a:avLst>
          </a:prstGeom>
          <a:solidFill>
            <a:srgbClr val="0E1B42">
              <a:alpha val="7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5194706" y="4810658"/>
            <a:ext cx="528523" cy="528523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44" name="Shape 36"/>
          <p:cNvSpPr/>
          <p:nvPr/>
        </p:nvSpPr>
        <p:spPr>
          <a:xfrm>
            <a:off x="5303520" y="4919472"/>
            <a:ext cx="310896" cy="310896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45" name="Image 6" descr="assets/icons/qms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8135" y="4994087"/>
            <a:ext cx="161666" cy="161666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5824728" y="486460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</a:t>
            </a:r>
            <a:endParaRPr lang="en-US" sz="1250" dirty="0"/>
          </a:p>
        </p:txBody>
      </p:sp>
      <p:sp>
        <p:nvSpPr>
          <p:cNvPr id="47" name="Text 38"/>
          <p:cNvSpPr/>
          <p:nvPr/>
        </p:nvSpPr>
        <p:spPr>
          <a:xfrm>
            <a:off x="8686800" y="4800600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QMS-aligned screening with a human validation gate</a:t>
            </a:r>
            <a:endParaRPr lang="en-US" sz="980" dirty="0"/>
          </a:p>
        </p:txBody>
      </p:sp>
      <p:sp>
        <p:nvSpPr>
          <p:cNvPr id="48" name="Shape 39"/>
          <p:cNvSpPr/>
          <p:nvPr/>
        </p:nvSpPr>
        <p:spPr>
          <a:xfrm>
            <a:off x="5074920" y="5404104"/>
            <a:ext cx="6455664" cy="548640"/>
          </a:xfrm>
          <a:prstGeom prst="roundRect">
            <a:avLst>
              <a:gd name="adj" fmla="val 11667"/>
            </a:avLst>
          </a:prstGeom>
          <a:solidFill>
            <a:srgbClr val="0E1B42">
              <a:alpha val="7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5194706" y="5414162"/>
            <a:ext cx="528523" cy="528523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50" name="Shape 41"/>
          <p:cNvSpPr/>
          <p:nvPr/>
        </p:nvSpPr>
        <p:spPr>
          <a:xfrm>
            <a:off x="5303520" y="5522976"/>
            <a:ext cx="310896" cy="310896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B82F6">
                <a:alpha val="80000"/>
              </a:srgbClr>
            </a:solidFill>
            <a:prstDash val="solid"/>
          </a:ln>
        </p:spPr>
      </p:sp>
      <p:pic>
        <p:nvPicPr>
          <p:cNvPr id="51" name="Image 7" descr="assets/icons/handshak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8135" y="5597591"/>
            <a:ext cx="161666" cy="161666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5824728" y="546811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Partnerships</a:t>
            </a:r>
            <a:endParaRPr lang="en-US" sz="1250" dirty="0"/>
          </a:p>
        </p:txBody>
      </p:sp>
      <p:sp>
        <p:nvSpPr>
          <p:cNvPr id="53" name="Text 43"/>
          <p:cNvSpPr/>
          <p:nvPr/>
        </p:nvSpPr>
        <p:spPr>
          <a:xfrm>
            <a:off x="8686800" y="5404104"/>
            <a:ext cx="2706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SPOC and post-placement performance tracking</a:t>
            </a:r>
            <a:endParaRPr lang="en-US" sz="980" dirty="0"/>
          </a:p>
        </p:txBody>
      </p:sp>
      <p:sp>
        <p:nvSpPr>
          <p:cNvPr id="54" name="Text 44"/>
          <p:cNvSpPr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CONFIGUSA</a:t>
            </a:r>
            <a:r>
              <a:rPr lang="en-US" sz="850" kern="0" spc="200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YOUR INTELLIGENT IT PARTNER</a:t>
            </a:r>
            <a:endParaRPr lang="en-US" sz="850" dirty="0"/>
          </a:p>
        </p:txBody>
      </p:sp>
      <p:sp>
        <p:nvSpPr>
          <p:cNvPr id="55" name="Text 45"/>
          <p:cNvSpPr/>
          <p:nvPr/>
        </p:nvSpPr>
        <p:spPr>
          <a:xfrm>
            <a:off x="11155680" y="641908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900" name="Logo Chip"/>
          <p:cNvSpPr/>
          <p:nvPr/>
        </p:nvSpPr>
        <p:spPr>
          <a:xfrm>
            <a:off x="10544320" y="250000"/>
            <a:ext cx="1160000" cy="49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01" name="Config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4320" y="330000"/>
            <a:ext cx="1000000" cy="332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network.png"/>
          <p:cNvPicPr>
            <a:picLocks noChangeAspect="1"/>
          </p:cNvPicPr>
          <p:nvPr/>
        </p:nvPicPr>
        <p:blipFill>
          <a:blip r:embed="rId4">
            <a:alphaModFix amt="76000"/>
          </a:blip>
          <a:stretch>
            <a:fillRect/>
          </a:stretch>
        </p:blipFill>
        <p:spPr>
          <a:xfrm>
            <a:off x="7132320" y="-457200"/>
            <a:ext cx="5486400" cy="5486400"/>
          </a:xfrm>
          <a:prstGeom prst="rect">
            <a:avLst/>
          </a:prstGeom>
        </p:spPr>
      </p:pic>
      <p:pic>
        <p:nvPicPr>
          <p:cNvPr id="3" name="Image 1" descr="assets/orb.png"/>
          <p:cNvPicPr>
            <a:picLocks noChangeAspect="1"/>
          </p:cNvPicPr>
          <p:nvPr/>
        </p:nvPicPr>
        <p:blipFill>
          <a:blip r:embed="rId5">
            <a:alphaModFix amt="88000"/>
          </a:blip>
          <a:stretch>
            <a:fillRect/>
          </a:stretch>
        </p:blipFill>
        <p:spPr>
          <a:xfrm>
            <a:off x="8046720" y="1097280"/>
            <a:ext cx="3840480" cy="3840480"/>
          </a:xfrm>
          <a:prstGeom prst="rect">
            <a:avLst/>
          </a:prstGeom>
        </p:spPr>
      </p:pic>
      <p:pic>
        <p:nvPicPr>
          <p:cNvPr id="4" name="Image 2" descr="assets/logo_l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94360"/>
            <a:ext cx="2377440" cy="103327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85800" y="21488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250" dirty="0"/>
          </a:p>
        </p:txBody>
      </p:sp>
      <p:sp>
        <p:nvSpPr>
          <p:cNvPr id="6" name="Text 1"/>
          <p:cNvSpPr/>
          <p:nvPr/>
        </p:nvSpPr>
        <p:spPr>
          <a:xfrm>
            <a:off x="658368" y="2514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Intelligent
</a:t>
            </a:r>
            <a:r>
              <a:rPr lang="en-US" sz="4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Partner</a:t>
            </a:r>
            <a:endParaRPr lang="en-US" sz="4600" dirty="0"/>
          </a:p>
        </p:txBody>
      </p:sp>
      <p:sp>
        <p:nvSpPr>
          <p:cNvPr id="7" name="Text 2"/>
          <p:cNvSpPr/>
          <p:nvPr/>
        </p:nvSpPr>
        <p:spPr>
          <a:xfrm>
            <a:off x="685800" y="42976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your AI-powered talent strategy together.</a:t>
            </a:r>
            <a:endParaRPr lang="en-US" sz="1400" dirty="0"/>
          </a:p>
        </p:txBody>
      </p:sp>
      <p:sp>
        <p:nvSpPr>
          <p:cNvPr id="8" name="Shape 3"/>
          <p:cNvSpPr/>
          <p:nvPr/>
        </p:nvSpPr>
        <p:spPr>
          <a:xfrm>
            <a:off x="658368" y="5074920"/>
            <a:ext cx="3529584" cy="777240"/>
          </a:xfrm>
          <a:prstGeom prst="roundRect">
            <a:avLst>
              <a:gd name="adj" fmla="val 11765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4"/>
          <p:cNvSpPr/>
          <p:nvPr/>
        </p:nvSpPr>
        <p:spPr>
          <a:xfrm>
            <a:off x="789127" y="5137099"/>
            <a:ext cx="652882" cy="65288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10" name="Shape 5"/>
          <p:cNvSpPr/>
          <p:nvPr/>
        </p:nvSpPr>
        <p:spPr>
          <a:xfrm>
            <a:off x="923544" y="5271516"/>
            <a:ext cx="384048" cy="38404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11" name="Image 3" descr="assets/icons/envelop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716" y="5363688"/>
            <a:ext cx="199705" cy="19970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99616" y="5221224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499616" y="5440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Info@configusa.com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4443984" y="5074920"/>
            <a:ext cx="3529584" cy="777240"/>
          </a:xfrm>
          <a:prstGeom prst="roundRect">
            <a:avLst>
              <a:gd name="adj" fmla="val 11765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4574743" y="5137099"/>
            <a:ext cx="652882" cy="65288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16" name="Shape 10"/>
          <p:cNvSpPr/>
          <p:nvPr/>
        </p:nvSpPr>
        <p:spPr>
          <a:xfrm>
            <a:off x="4709160" y="5271516"/>
            <a:ext cx="384048" cy="38404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17" name="Image 4" descr="assets/icons/phon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1332" y="5363688"/>
            <a:ext cx="199705" cy="19970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85232" y="5221224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5285232" y="5440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+1 609-934-3184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8229600" y="5074920"/>
            <a:ext cx="3529584" cy="777240"/>
          </a:xfrm>
          <a:prstGeom prst="roundRect">
            <a:avLst>
              <a:gd name="adj" fmla="val 11765"/>
            </a:avLst>
          </a:prstGeom>
          <a:solidFill>
            <a:srgbClr val="0E1B42">
              <a:alpha val="82000"/>
            </a:srgbClr>
          </a:solidFill>
          <a:ln w="12700">
            <a:solidFill>
              <a:srgbClr val="2A3E6E">
                <a:alpha val="75000"/>
              </a:srgbClr>
            </a:solidFill>
            <a:prstDash val="solid"/>
          </a:ln>
          <a:effectLst>
            <a:outerShdw blurRad="177800" dist="508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8360359" y="5137099"/>
            <a:ext cx="652882" cy="652882"/>
          </a:xfrm>
          <a:prstGeom prst="ellipse">
            <a:avLst/>
          </a:prstGeom>
          <a:solidFill>
            <a:srgbClr val="38BDF8">
              <a:alpha val="10000"/>
            </a:srgbClr>
          </a:solidFill>
          <a:ln/>
        </p:spPr>
      </p:sp>
      <p:sp>
        <p:nvSpPr>
          <p:cNvPr id="22" name="Shape 15"/>
          <p:cNvSpPr/>
          <p:nvPr/>
        </p:nvSpPr>
        <p:spPr>
          <a:xfrm>
            <a:off x="8494776" y="5271516"/>
            <a:ext cx="384048" cy="384048"/>
          </a:xfrm>
          <a:prstGeom prst="ellipse">
            <a:avLst/>
          </a:prstGeom>
          <a:solidFill>
            <a:srgbClr val="12224C">
              <a:alpha val="88000"/>
            </a:srgbClr>
          </a:solidFill>
          <a:ln w="15875">
            <a:solidFill>
              <a:srgbClr val="38BDF8">
                <a:alpha val="80000"/>
              </a:srgbClr>
            </a:solidFill>
            <a:prstDash val="solid"/>
          </a:ln>
        </p:spPr>
      </p:sp>
      <p:pic>
        <p:nvPicPr>
          <p:cNvPr id="23" name="Image 5" descr="assets/icons/glob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86948" y="5363688"/>
            <a:ext cx="199705" cy="19970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9070848" y="5221224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9070848" y="544068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configusa.com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685800" y="6053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   </a:t>
            </a:r>
            <a:r>
              <a:rPr lang="en-US" sz="10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ConfigUSA Inc. · 666 Plainsboro Road, 1237 · Plainsboro, NJ 08536       </a:t>
            </a: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  </a:t>
            </a:r>
            <a:r>
              <a:rPr lang="en-US" sz="1000" dirty="0">
                <a:solidFill>
                  <a:srgbClr val="9FB1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Solutions Pvt. Ltd. · Trendz Sapphire, Hitech City · Hyderabad 500081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685800" y="6419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C7F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· CANADA · INDIA      |      24×7 GLOBAL DELIVERY</a:t>
            </a:r>
            <a:endParaRPr lang="en-US" sz="900" dirty="0"/>
          </a:p>
        </p:txBody>
      </p:sp>
      <p:sp>
        <p:nvSpPr>
          <p:cNvPr id="900" name="Logo Chip"/>
          <p:cNvSpPr/>
          <p:nvPr/>
        </p:nvSpPr>
        <p:spPr>
          <a:xfrm>
            <a:off x="10544320" y="250000"/>
            <a:ext cx="1160000" cy="492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90000" dist="30000" dir="5400000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01" name="Config 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24320" y="330000"/>
            <a:ext cx="1000000" cy="332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2610</Words>
  <Application>Microsoft Office PowerPoint</Application>
  <PresentationFormat>Widescreen</PresentationFormat>
  <Paragraphs>431</Paragraphs>
  <Slides>13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ConfigUSA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ConfigUSA</dc:creator>
  <cp:lastModifiedBy>Sam Matt</cp:lastModifiedBy>
  <cp:revision>23</cp:revision>
  <dcterms:created xsi:type="dcterms:W3CDTF">2026-07-18T12:07:43Z</dcterms:created>
  <dcterms:modified xsi:type="dcterms:W3CDTF">2026-07-21T07:42:08Z</dcterms:modified>
</cp:coreProperties>
</file>